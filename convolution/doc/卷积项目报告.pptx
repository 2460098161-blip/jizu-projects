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20000" y="2340000"/>
            <a:ext cx="1800000" cy="28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08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t>一维复数信号卷积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252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4C8DC"/>
                </a:solidFill>
              </a:defRPr>
            </a:pPr>
            <a:r>
              <a:t>1D Complex Signal Convolution — 实现、优化与性能分析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360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A0B4"/>
                </a:solidFill>
              </a:defRPr>
            </a:pPr>
            <a:r>
              <a:t>emu8086 软件浮点 | AVX2/NEON/SVE 向量化 | FFT加速 | OpenBLAS对比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54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A0B4"/>
                </a:solidFill>
              </a:defRPr>
            </a:pPr>
            <a:r>
              <a:t>计组课程项目  ·  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0" tIns="1800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项目目标与需求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16000"/>
            <a:ext cx="12192119" cy="34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C8DC"/>
                </a:solidFill>
              </a:defRPr>
            </a:pPr>
            <a:r>
              <a:t>1D Complex Signal Convolution — Performance &amp; Optimization 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260000"/>
            <a:ext cx="5400000" cy="1980000"/>
          </a:xfrm>
          <a:prstGeom prst="roundRect">
            <a:avLst/>
          </a:prstGeom>
          <a:solidFill>
            <a:srgbClr val="DCEBFA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332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核心目标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620000"/>
            <a:ext cx="48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C3C3C"/>
                </a:solidFill>
              </a:defRPr>
            </a:pPr>
            <a:r>
              <a:t>▎一维卷积：S[1×N] 与 K[1×M] 复数浮点卷积</a:t>
            </a:r>
          </a:p>
          <a:p>
            <a:pPr>
              <a:spcAft>
                <a:spcPts val="400"/>
              </a:spcAft>
              <a:defRPr sz="1300" b="0">
                <a:solidFill>
                  <a:srgbClr val="3C3C3C"/>
                </a:solidFill>
              </a:defRPr>
            </a:pPr>
            <a:r>
              <a:t>      Y[k] = Σ S[i] · K[k-i]     k = 0..N+M-2</a:t>
            </a:r>
          </a:p>
          <a:p>
            <a:pPr>
              <a:spcAft>
                <a:spcPts val="400"/>
              </a:spcAft>
              <a:defRPr sz="600" b="0">
                <a:solidFill>
                  <a:srgbClr val="3C3C3C"/>
                </a:solidFill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3C3C3C"/>
                </a:solidFill>
              </a:defRPr>
            </a:pPr>
            <a:r>
              <a:t>▎输入/输出均为复数浮点数 (IEEE 754 float32)</a:t>
            </a:r>
          </a:p>
          <a:p>
            <a:pPr>
              <a:spcAft>
                <a:spcPts val="400"/>
              </a:spcAft>
              <a:defRPr sz="1300" b="0">
                <a:solidFill>
                  <a:srgbClr val="3C3C3C"/>
                </a:solidFill>
              </a:defRPr>
            </a:pPr>
            <a:r>
              <a:t>▎结果需与 MATLAB conv() 函数 bit-exact 一致</a:t>
            </a:r>
          </a:p>
          <a:p>
            <a:pPr>
              <a:spcAft>
                <a:spcPts val="400"/>
              </a:spcAft>
              <a:defRPr sz="1300" b="0">
                <a:solidFill>
                  <a:srgbClr val="3C3C3C"/>
                </a:solidFill>
              </a:defRPr>
            </a:pPr>
            <a:r>
              <a:t>▎目标平台：Intel 8086 (emu8086 模拟器)</a:t>
            </a: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    + 现代 x86-64 性能优化对比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1260000"/>
            <a:ext cx="5400000" cy="198000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0000" y="1332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7E22"/>
                </a:solidFill>
              </a:defRPr>
            </a:pPr>
            <a:r>
              <a:t>加分项完成情况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0000" y="1620000"/>
            <a:ext cx="486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C3C3C"/>
                </a:solidFill>
              </a:defRPr>
            </a:pPr>
            <a:r>
              <a:t>✓ 性能对比：基准 → 简单优化 → 深度汇编优化</a:t>
            </a:r>
          </a:p>
          <a:p>
            <a:pPr>
              <a:spcAft>
                <a:spcPts val="400"/>
              </a:spcAft>
              <a:defRPr sz="1300" b="0">
                <a:solidFill>
                  <a:srgbClr val="3C3C3C"/>
                </a:solidFill>
              </a:defRPr>
            </a:pPr>
            <a:r>
              <a:t>✓ CPU向量加速：AVX2 (256-bit SIMD + FMA)</a:t>
            </a:r>
          </a:p>
          <a:p>
            <a:pPr>
              <a:spcAft>
                <a:spcPts val="400"/>
              </a:spcAft>
              <a:defRPr sz="1300" b="0">
                <a:solidFill>
                  <a:srgbClr val="3C3C3C"/>
                </a:solidFill>
              </a:defRPr>
            </a:pPr>
            <a:r>
              <a:t>✓ ARM NEON (128-bit) &amp; SVE 设计方案</a:t>
            </a:r>
          </a:p>
          <a:p>
            <a:pPr>
              <a:spcAft>
                <a:spcPts val="400"/>
              </a:spcAft>
              <a:defRPr sz="1300" b="0">
                <a:solidFill>
                  <a:srgbClr val="3C3C3C"/>
                </a:solidFill>
              </a:defRPr>
            </a:pPr>
            <a:r>
              <a:t>✓ 大卷积核FFT加速：O(N log N) vs O(NM)</a:t>
            </a:r>
          </a:p>
          <a:p>
            <a:pPr>
              <a:spcAft>
                <a:spcPts val="400"/>
              </a:spcAft>
              <a:defRPr sz="1300" b="0">
                <a:solidFill>
                  <a:srgbClr val="3C3C3C"/>
                </a:solidFill>
              </a:defRPr>
            </a:pPr>
            <a:r>
              <a:t>✓ 单线程 vs OpenBLAS 性能对比分析</a:t>
            </a:r>
          </a:p>
          <a:p>
            <a:pPr>
              <a:spcAft>
                <a:spcPts val="400"/>
              </a:spcAft>
              <a:defRPr sz="1300" b="0">
                <a:solidFill>
                  <a:srgbClr val="3C3C3C"/>
                </a:solidFill>
              </a:defRPr>
            </a:pPr>
            <a:r>
              <a:t>✓ GFLOPS 效率分析 (峰值利用率)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000" y="3600000"/>
            <a:ext cx="11160000" cy="14400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3671999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技术栈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4031999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MATLAB R2024a (golden reference)  →  C99 (conv_ref.c)  →  x86 Assembly (emu8086)</a:t>
            </a: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性能基准: C scalar / Unrolled / AVX2+FMA Intrinsics / FFTW3 / OpenBLAS</a:t>
            </a: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编译器: GCC 13.2  |  CPU: i7-12700H @ 4.7GHz  |  OS: Windows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5220000"/>
            <a:ext cx="2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67E22"/>
                </a:solidFill>
              </a:defRPr>
            </a:pPr>
            <a:r>
              <a:t>28.4×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594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C3C3C"/>
                </a:solidFill>
              </a:defRPr>
            </a:pPr>
            <a:r>
              <a:t>FFT vs Naive C 加速比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0000" y="5220000"/>
            <a:ext cx="2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6699"/>
                </a:solidFill>
              </a:defRPr>
            </a:pPr>
            <a:r>
              <a:t>3.51×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0000" y="594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C3C3C"/>
                </a:solidFill>
              </a:defRPr>
            </a:pPr>
            <a:r>
              <a:t>AVX2 vs Naive C 加速比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0000" y="5220000"/>
            <a:ext cx="28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7AE60"/>
                </a:solidFill>
              </a:defRPr>
            </a:pPr>
            <a:r>
              <a:t>24.6%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0000" y="594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C3C3C"/>
                </a:solidFill>
              </a:defRPr>
            </a:pPr>
            <a:r>
              <a:t>FFTW3 峰值效率 (75.2 GFLOPS)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0" tIns="1800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系统架构与数据流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16000"/>
            <a:ext cx="12192119" cy="34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C8DC"/>
                </a:solidFill>
              </a:defRPr>
            </a:pPr>
            <a:r>
              <a:t>1D Complex Signal Convolution — Performance &amp; Optimization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152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整体数据流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440000"/>
            <a:ext cx="540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003366"/>
                </a:solidFill>
              </a:defRPr>
            </a:pPr>
            <a:r>
              <a:t>  +----------+     +----------+     +-------------------+</a:t>
            </a:r>
          </a:p>
          <a:p>
            <a:pPr>
              <a:spcAft>
                <a:spcPts val="400"/>
              </a:spcAft>
              <a:defRPr sz="1100" b="0">
                <a:solidFill>
                  <a:srgbClr val="003366"/>
                </a:solidFill>
              </a:defRPr>
            </a:pPr>
            <a:r>
              <a:t>  | Signal S |     | Kernel K |     |   Convolution     |</a:t>
            </a:r>
          </a:p>
          <a:p>
            <a:pPr>
              <a:spcAft>
                <a:spcPts val="400"/>
              </a:spcAft>
              <a:defRPr sz="1100" b="0">
                <a:solidFill>
                  <a:srgbClr val="003366"/>
                </a:solidFill>
              </a:defRPr>
            </a:pPr>
            <a:r>
              <a:t>  | [1 x N]  |────&gt;| [1 x M]  |────&gt;|   Algorithm       |────&gt; Y[1 x N+M-1]</a:t>
            </a:r>
          </a:p>
          <a:p>
            <a:pPr>
              <a:spcAft>
                <a:spcPts val="400"/>
              </a:spcAft>
              <a:defRPr sz="1100" b="0">
                <a:solidFill>
                  <a:srgbClr val="003366"/>
                </a:solidFill>
              </a:defRPr>
            </a:pPr>
            <a:r>
              <a:t>  | complex  |     | complex  |     | (Direct / FFT)    |     complex float</a:t>
            </a:r>
          </a:p>
          <a:p>
            <a:pPr>
              <a:spcAft>
                <a:spcPts val="400"/>
              </a:spcAft>
              <a:defRPr sz="1100" b="0">
                <a:solidFill>
                  <a:srgbClr val="003366"/>
                </a:solidFill>
              </a:defRPr>
            </a:pPr>
            <a:r>
              <a:t>  +----------+     +----------+     +-------------------+</a:t>
            </a:r>
          </a:p>
          <a:p>
            <a:pPr>
              <a:spcAft>
                <a:spcPts val="400"/>
              </a:spcAft>
              <a:defRPr sz="1100" b="0">
                <a:solidFill>
                  <a:srgbClr val="003366"/>
                </a:solidFill>
              </a:defRPr>
            </a:pPr>
            <a:r>
              <a:t>                                          |</a:t>
            </a:r>
          </a:p>
          <a:p>
            <a:pPr>
              <a:spcAft>
                <a:spcPts val="400"/>
              </a:spcAft>
              <a:defRPr sz="1100" b="0">
                <a:solidFill>
                  <a:srgbClr val="003366"/>
                </a:solidFill>
              </a:defRPr>
            </a:pPr>
            <a:r>
              <a:t>             +──────────────────────────────+──────────────────────────────+</a:t>
            </a:r>
          </a:p>
          <a:p>
            <a:pPr>
              <a:spcAft>
                <a:spcPts val="400"/>
              </a:spcAft>
              <a:defRPr sz="1100" b="0">
                <a:solidFill>
                  <a:srgbClr val="003366"/>
                </a:solidFill>
              </a:defRPr>
            </a:pPr>
            <a:r>
              <a:t>             |                            |                              |</a:t>
            </a:r>
          </a:p>
          <a:p>
            <a:pPr>
              <a:spcAft>
                <a:spcPts val="400"/>
              </a:spcAft>
              <a:defRPr sz="1100" b="0">
                <a:solidFill>
                  <a:srgbClr val="003366"/>
                </a:solidFill>
              </a:defRPr>
            </a:pPr>
            <a:r>
              <a:t>        Naive O(NM)                AVX2 SIMD                     FFT O(N log N)</a:t>
            </a:r>
          </a:p>
          <a:p>
            <a:pPr>
              <a:spcAft>
                <a:spcPts val="400"/>
              </a:spcAft>
              <a:defRPr sz="1100" b="0">
                <a:solidFill>
                  <a:srgbClr val="003366"/>
                </a:solidFill>
              </a:defRPr>
            </a:pPr>
            <a:r>
              <a:t>         (emu8086)               (modern CPU)                   (large kernels)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0000" y="1152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软件栈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0000" y="1440000"/>
            <a:ext cx="540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003366"/>
                </a:solidFill>
              </a:defRPr>
            </a:pPr>
            <a:r>
              <a:t>  +──────────────────────────────────────────+</a:t>
            </a:r>
          </a:p>
          <a:p>
            <a:pPr>
              <a:spcAft>
                <a:spcPts val="400"/>
              </a:spcAft>
              <a:defRPr sz="1100" b="0">
                <a:solidFill>
                  <a:srgbClr val="003366"/>
                </a:solidFill>
              </a:defRPr>
            </a:pPr>
            <a:r>
              <a:t>  |  MATLAB test_conv.m  →  golden reference  |</a:t>
            </a:r>
          </a:p>
          <a:p>
            <a:pPr>
              <a:spcAft>
                <a:spcPts val="400"/>
              </a:spcAft>
              <a:defRPr sz="1100" b="0">
                <a:solidFill>
                  <a:srgbClr val="003366"/>
                </a:solidFill>
              </a:defRPr>
            </a:pPr>
            <a:r>
              <a:t>  +──────────────────────────────────────────+</a:t>
            </a:r>
          </a:p>
          <a:p>
            <a:pPr>
              <a:spcAft>
                <a:spcPts val="400"/>
              </a:spcAft>
              <a:defRPr sz="1100" b="0">
                <a:solidFill>
                  <a:srgbClr val="003366"/>
                </a:solidFill>
              </a:defRPr>
            </a:pPr>
            <a:r>
              <a:t>              | 验证</a:t>
            </a:r>
          </a:p>
          <a:p>
            <a:pPr>
              <a:spcAft>
                <a:spcPts val="400"/>
              </a:spcAft>
              <a:defRPr sz="1100" b="0">
                <a:solidFill>
                  <a:srgbClr val="003366"/>
                </a:solidFill>
              </a:defRPr>
            </a:pPr>
            <a:r>
              <a:t>              v</a:t>
            </a:r>
          </a:p>
          <a:p>
            <a:pPr>
              <a:spcAft>
                <a:spcPts val="400"/>
              </a:spcAft>
              <a:defRPr sz="1100" b="0">
                <a:solidFill>
                  <a:srgbClr val="003366"/>
                </a:solidFill>
              </a:defRPr>
            </a:pPr>
            <a:r>
              <a:t>  +──────────────────────────────────────────+</a:t>
            </a:r>
          </a:p>
          <a:p>
            <a:pPr>
              <a:spcAft>
                <a:spcPts val="400"/>
              </a:spcAft>
              <a:defRPr sz="1100" b="0">
                <a:solidFill>
                  <a:srgbClr val="003366"/>
                </a:solidFill>
              </a:defRPr>
            </a:pPr>
            <a:r>
              <a:t>  |  ref/conv_ref.c  →  C99 参考实现          |</a:t>
            </a:r>
          </a:p>
          <a:p>
            <a:pPr>
              <a:spcAft>
                <a:spcPts val="400"/>
              </a:spcAft>
              <a:defRPr sz="1100" b="0">
                <a:solidFill>
                  <a:srgbClr val="003366"/>
                </a:solidFill>
              </a:defRPr>
            </a:pPr>
            <a:r>
              <a:t>  +──────────────────────────────────────────+</a:t>
            </a:r>
          </a:p>
          <a:p>
            <a:pPr>
              <a:spcAft>
                <a:spcPts val="400"/>
              </a:spcAft>
              <a:defRPr sz="1100" b="0">
                <a:solidFill>
                  <a:srgbClr val="003366"/>
                </a:solidFill>
              </a:defRPr>
            </a:pPr>
            <a:r>
              <a:t>              | 验证</a:t>
            </a:r>
          </a:p>
          <a:p>
            <a:pPr>
              <a:spcAft>
                <a:spcPts val="400"/>
              </a:spcAft>
              <a:defRPr sz="1100" b="0">
                <a:solidFill>
                  <a:srgbClr val="003366"/>
                </a:solidFill>
              </a:defRPr>
            </a:pPr>
            <a:r>
              <a:t>              v</a:t>
            </a:r>
          </a:p>
          <a:p>
            <a:pPr>
              <a:spcAft>
                <a:spcPts val="400"/>
              </a:spcAft>
              <a:defRPr sz="1100" b="0">
                <a:solidFill>
                  <a:srgbClr val="003366"/>
                </a:solidFill>
              </a:defRPr>
            </a:pPr>
            <a:r>
              <a:t>  +──────────────────────────────────────────+</a:t>
            </a:r>
          </a:p>
          <a:p>
            <a:pPr>
              <a:spcAft>
                <a:spcPts val="400"/>
              </a:spcAft>
              <a:defRPr sz="1100" b="0">
                <a:solidFill>
                  <a:srgbClr val="003366"/>
                </a:solidFill>
              </a:defRPr>
            </a:pPr>
            <a:r>
              <a:t>  |  src/conv.asm   →  emu8086 卷积            |</a:t>
            </a:r>
          </a:p>
          <a:p>
            <a:pPr>
              <a:spcAft>
                <a:spcPts val="400"/>
              </a:spcAft>
              <a:defRPr sz="1100" b="0">
                <a:solidFill>
                  <a:srgbClr val="003366"/>
                </a:solidFill>
              </a:defRPr>
            </a:pPr>
            <a:r>
              <a:t>  |  src/complex.asm →  复数运算                |</a:t>
            </a:r>
          </a:p>
          <a:p>
            <a:pPr>
              <a:spcAft>
                <a:spcPts val="400"/>
              </a:spcAft>
              <a:defRPr sz="1100" b="0">
                <a:solidFill>
                  <a:srgbClr val="003366"/>
                </a:solidFill>
              </a:defRPr>
            </a:pPr>
            <a:r>
              <a:t>  |  src/float32.asm →  IEEE 754 FP 模拟       |</a:t>
            </a:r>
          </a:p>
          <a:p>
            <a:pPr>
              <a:spcAft>
                <a:spcPts val="400"/>
              </a:spcAft>
              <a:defRPr sz="1100" b="0">
                <a:solidFill>
                  <a:srgbClr val="003366"/>
                </a:solidFill>
              </a:defRPr>
            </a:pPr>
            <a:r>
              <a:t>  +──────────────────────────────────────────+</a:t>
            </a:r>
          </a:p>
          <a:p>
            <a:pPr>
              <a:spcAft>
                <a:spcPts val="400"/>
              </a:spcAft>
              <a:defRPr sz="1100" b="0">
                <a:solidFill>
                  <a:srgbClr val="003366"/>
                </a:solidFill>
              </a:defRPr>
            </a:pPr>
            <a:r>
              <a:t>              | 性能对比</a:t>
            </a:r>
          </a:p>
          <a:p>
            <a:pPr>
              <a:spcAft>
                <a:spcPts val="400"/>
              </a:spcAft>
              <a:defRPr sz="1100" b="0">
                <a:solidFill>
                  <a:srgbClr val="003366"/>
                </a:solidFill>
              </a:defRPr>
            </a:pPr>
            <a:r>
              <a:t>              v</a:t>
            </a:r>
          </a:p>
          <a:p>
            <a:pPr>
              <a:spcAft>
                <a:spcPts val="400"/>
              </a:spcAft>
              <a:defRPr sz="1100" b="0">
                <a:solidFill>
                  <a:srgbClr val="003366"/>
                </a:solidFill>
              </a:defRPr>
            </a:pPr>
            <a:r>
              <a:t>  +──────────────────────────────────────────+</a:t>
            </a:r>
          </a:p>
          <a:p>
            <a:pPr>
              <a:spcAft>
                <a:spcPts val="400"/>
              </a:spcAft>
              <a:defRPr sz="1100" b="0">
                <a:solidFill>
                  <a:srgbClr val="003366"/>
                </a:solidFill>
              </a:defRPr>
            </a:pPr>
            <a:r>
              <a:t>  |  ref/benchmark.c → AVX2, FFTW, OpenBLAS  |</a:t>
            </a:r>
          </a:p>
          <a:p>
            <a:pPr>
              <a:spcAft>
                <a:spcPts val="400"/>
              </a:spcAft>
              <a:defRPr sz="1100" b="0">
                <a:solidFill>
                  <a:srgbClr val="003366"/>
                </a:solidFill>
              </a:defRPr>
            </a:pPr>
            <a:r>
              <a:t>  +──────────────────────────────────────────+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3960000"/>
            <a:ext cx="11160000" cy="16200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4031999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emu8086 内存布局 (64KB 数据段)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4392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+0x0000  ▓▓▓▓▓▓▓▓▓▓▓▓▓▓▓▓▓▓▓▓▓▓▓▓  Signal S[0..N-1]         (8N bytes, 复数float对)</a:t>
            </a: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+offset  ▓▓▓▓▓▓▓▓▓▓▓▓▓▓▓▓▓▓▓▓▓▓▓▓  Kernel K[0..M-1]         (8M bytes)</a:t>
            </a: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+offset  ░░░░░░░░░░░░░░░░░░░░░░░░░░  Output Y[0..N+M-2]       (8(N+M-1) bytes)</a:t>
            </a: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+offset  ··························  Float32 工作缓冲区        (~100 bytes)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每复数 = 8 bytes: [real_lo][real_hi][imag_lo][imag_hi]    最大 ~8000 复数/段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0" tIns="1800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IEEE 754 单精度浮点实现 (float32.asm)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16000"/>
            <a:ext cx="12192119" cy="34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C8DC"/>
                </a:solidFill>
              </a:defRPr>
            </a:pPr>
            <a:r>
              <a:t>1D Complex Signal Convolution — Performance &amp; Optimization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152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IEEE 754 binary32 位布局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440000"/>
            <a:ext cx="504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 Byte 3        Byte 2        Byte 1        Byte 0</a:t>
            </a:r>
          </a:p>
          <a:p>
            <a:pPr>
              <a:spcAft>
                <a:spcPts val="400"/>
              </a:spcAft>
              <a:defRPr sz="1100" b="1">
                <a:solidFill>
                  <a:srgbClr val="3C3C3C"/>
                </a:solidFill>
              </a:defRPr>
            </a:pPr>
            <a:r>
              <a:t>[SEEEEEEE]    [EMMMMMMM]    [MMMMMMMM]    [MMMMMMMM]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    |   |        |     |        |    |        |    |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    |   +────────+─────+────────+────+────────+────+── Mantissa [22:0]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    +── Sign bit   Exponent [7:0] (bias = 127)</a:t>
            </a:r>
          </a:p>
          <a:p>
            <a:pPr>
              <a:spcAft>
                <a:spcPts val="400"/>
              </a:spcAft>
              <a:defRPr sz="600" b="0">
                <a:solidFill>
                  <a:srgbClr val="3C3C3C"/>
                </a:solidFill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Value = (-1)^S × 2^(E−127) × (1.M)    E ∈ [1, 254]</a:t>
            </a: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Value = (-1)^S × 2^(−126) × (0.M)     E = 0 (denormal)</a:t>
            </a: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Value = ±∞ (E=255,M=0)  |  NaN (E=255,M≠0)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0000" y="1152000"/>
            <a:ext cx="5580000" cy="2340000"/>
          </a:xfrm>
          <a:prstGeom prst="roundRect">
            <a:avLst/>
          </a:prstGeom>
          <a:solidFill>
            <a:srgbClr val="DCEBFA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0000" y="1224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FADD — 浮点加法算法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0000" y="1512000"/>
            <a:ext cx="504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1. 解包 A, B → sign, exp, mantissa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2. 零值检查: A=0→B, B=0→A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3. NaN/∞ 传播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4. 对阶: diff=|expA-expB|, 右移小阶尾数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5. 尾数加减 (同号加/异号减)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6. 规格化: 左移至 bit23=1, 调整阶码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7. 舍入: 就近舍入到偶数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8. 溢出/下溢检查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9. 打包: sign|exp&lt;&lt;23|mantissa[22:0]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3600000"/>
            <a:ext cx="5040000" cy="198000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00" y="3671999"/>
            <a:ext cx="46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</a:defRPr>
            </a:pPr>
            <a:r>
              <a:t>FMUL — 浮点乘法 (8086 16-bit MUL)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3960000"/>
            <a:ext cx="450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1. result_sign = signA XOR signB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2. result_exp = expA + expB − 127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3. 24-bit × 24-bit → 4个部分积: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     A_LO × B_LO  →  32-bit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     A_HI × B_LO  →  24-bit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     A_LO × B_HI  →  24-bit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     A_HI × B_HI  →  16-bit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     进位链求和 → 48-bit product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4. 取高24位, 规格化, 舍入, 打包</a:t>
            </a:r>
          </a:p>
          <a:p>
            <a:pPr>
              <a:spcAft>
                <a:spcPts val="400"/>
              </a:spcAft>
              <a:defRPr sz="600" b="0">
                <a:solidFill>
                  <a:srgbClr val="3C3C3C"/>
                </a:solidFill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预计每FMUL ~150-300 周期 @ 5MHz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0000" y="3600000"/>
            <a:ext cx="5580000" cy="19800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0000" y="3671999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子程序列表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192000" y="4031999"/>
          <a:ext cx="5400000" cy="17639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/>
                <a:gridCol w="1260000"/>
                <a:gridCol w="1260000"/>
                <a:gridCol w="198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子程序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输入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输出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功能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FADD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SI→A, DI→B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BX→result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A + B</a:t>
                      </a:r>
                    </a:p>
                  </a:txBody>
                  <a:tcPr/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FSUB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SI→A, DI→B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BX→result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A − 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FMUL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SI→A, DI→B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BX→result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A × B</a:t>
                      </a:r>
                    </a:p>
                  </a:txBody>
                  <a:tcPr/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FCMP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SI→A, DI→B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flags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比较 A 与 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ITOF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AX=int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BX→float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int → float32</a:t>
                      </a:r>
                    </a:p>
                  </a:txBody>
                  <a:tcPr/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FTOI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SI→float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AX=int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float32 → int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0" tIns="1800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复数运算与卷积算法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16000"/>
            <a:ext cx="12192119" cy="34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C8DC"/>
                </a:solidFill>
              </a:defRPr>
            </a:pPr>
            <a:r>
              <a:t>1D Complex Signal Convolution — Performance &amp; Optimization 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152000"/>
            <a:ext cx="5400000" cy="2340000"/>
          </a:xfrm>
          <a:prstGeom prst="roundRect">
            <a:avLst/>
          </a:prstGeom>
          <a:solidFill>
            <a:srgbClr val="DCEBFA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224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CMUL — 复数乘法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512000"/>
            <a:ext cx="486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3C3C3C"/>
                </a:solidFill>
              </a:defRPr>
            </a:pPr>
            <a:r>
              <a:t>(a+bi)(c+di) = (ac − bd) + (ad + bc)i</a:t>
            </a:r>
          </a:p>
          <a:p>
            <a:pPr>
              <a:spcAft>
                <a:spcPts val="400"/>
              </a:spcAft>
              <a:defRPr sz="600" b="0">
                <a:solidFill>
                  <a:srgbClr val="3C3C3C"/>
                </a:solidFill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Step 1: t1 = fmul(a, c)    → ac</a:t>
            </a: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Step 2: t2 = fmul(b, d)    → bd</a:t>
            </a: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Step 3: real = fsub(t1, t2) → ac − bd</a:t>
            </a: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Step 4: t3 = fmul(a, d)    → ad</a:t>
            </a: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Step 5: t4 = fmul(b, c)    → bc</a:t>
            </a: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Step 6: imag = fadd(t3, t4) → ad + bc</a:t>
            </a:r>
          </a:p>
          <a:p>
            <a:pPr>
              <a:spcAft>
                <a:spcPts val="400"/>
              </a:spcAft>
              <a:defRPr sz="600" b="0">
                <a:solidFill>
                  <a:srgbClr val="3C3C3C"/>
                </a:solidFill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3C3C3C"/>
                </a:solidFill>
              </a:defRPr>
            </a:pPr>
            <a:r>
              <a:t>总计: 4次浮点乘 + 1次浮点加 + 1次浮点减 = 6 FP ops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1152000"/>
            <a:ext cx="5400000" cy="234000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0000" y="1224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</a:defRPr>
            </a:pPr>
            <a:r>
              <a:t>卷积算法 — 直接 O(N×M)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0000" y="1512000"/>
            <a:ext cx="486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3C3C3C"/>
                </a:solidFill>
              </a:defRPr>
            </a:pPr>
            <a:r>
              <a:t>For k = 0 to N+M-2:</a:t>
            </a: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    Y[k] = (0, 0)</a:t>
            </a: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    i_start = max(0, k − M + 1)</a:t>
            </a: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    i_end   = min(k, N − 1)</a:t>
            </a: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    For i = i_start to i_end:</a:t>
            </a: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        j = k − i</a:t>
            </a: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        Y[k] += S[i] * K[j]   // CMUL + CADD</a:t>
            </a:r>
          </a:p>
          <a:p>
            <a:pPr>
              <a:spcAft>
                <a:spcPts val="400"/>
              </a:spcAft>
              <a:defRPr sz="600" b="0">
                <a:solidFill>
                  <a:srgbClr val="3C3C3C"/>
                </a:solidFill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输出长度: N+M-1  |  内循环迭代: N×M</a:t>
            </a: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每迭代: 4浮点乘 + 3浮点加 = 7浮点运算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3671999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计算复杂度分析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0000" y="4031999"/>
          <a:ext cx="5040000" cy="17639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252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数值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输出长度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N + M − 1</a:t>
                      </a:r>
                    </a:p>
                  </a:txBody>
                  <a:tcPr/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总内循环迭代次数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N × 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每次迭代浮点乘法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4 (复数乘法)</a:t>
                      </a:r>
                    </a:p>
                  </a:txBody>
                  <a:tcPr/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每次迭代浮点加法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3 (2在cadd + 1在cmul)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总浮点操作数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~7 × N × M</a:t>
                      </a:r>
                    </a:p>
                  </a:txBody>
                  <a:tcPr/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内存访问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16N + 16M + 8(N+M−1) bytes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300000" y="3671999"/>
            <a:ext cx="5400000" cy="19800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0000" y="3744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emu8086 性能预估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0000" y="4068000"/>
            <a:ext cx="486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每个软件浮点乘:  ~150-300 周期</a:t>
            </a:r>
          </a:p>
          <a:p>
            <a:pPr>
              <a:spcAft>
                <a:spcPts val="400"/>
              </a:spcAft>
              <a:defRPr sz="400" b="0">
                <a:solidFill>
                  <a:srgbClr val="3C3C3C"/>
                </a:solidFill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3C3C3C"/>
                </a:solidFill>
              </a:defRPr>
            </a:pPr>
            <a:r>
              <a:t>示例: N=4, M=3:</a:t>
            </a: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  Ylen = 6, 内循环 = 12, 浮点操作 = 84</a:t>
            </a: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  预计: ~12,600 - 25,200 周期</a:t>
            </a: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  时间: ~2.5 - 5.0 ms @ 5 MHz</a:t>
            </a:r>
          </a:p>
          <a:p>
            <a:pPr>
              <a:spcAft>
                <a:spcPts val="400"/>
              </a:spcAft>
              <a:defRPr sz="400" b="0">
                <a:solidFill>
                  <a:srgbClr val="3C3C3C"/>
                </a:solidFill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局限: 无硬件FPU, 实时DSP不可行</a:t>
            </a: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建议: 使用8087 FPU 或定点数量化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0" tIns="1800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优化策略: 简单优化 &amp; 深度汇编优化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16000"/>
            <a:ext cx="12192119" cy="34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C8DC"/>
                </a:solidFill>
              </a:defRPr>
            </a:pPr>
            <a:r>
              <a:t>1D Complex Signal Convolution — Performance &amp; Optimization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152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Level 1: 简单优化 (算法层面)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0000" y="1512000"/>
          <a:ext cx="6120000" cy="1511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/>
                <a:gridCol w="3240000"/>
                <a:gridCol w="126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技术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描述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预期加速比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循环交换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外层循环遍历较短维度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1.0-1.2×</a:t>
                      </a:r>
                    </a:p>
                  </a:txBody>
                  <a:tcPr/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4× 循环展开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减少分支开销, 暴露指令级并行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1.3-1.8×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强度削弱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用递减替代 j = k −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1.05×</a:t>
                      </a:r>
                    </a:p>
                  </a:txBody>
                  <a:tcPr/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寄存器累加器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Y[k]保留在4个FP寄存器中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1.2×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Cache分块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按L1缓存大小分块处理 (32KB)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1.5-3×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0000" y="3240000"/>
            <a:ext cx="11160000" cy="234000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3311999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7E22"/>
                </a:solidFill>
              </a:defRPr>
            </a:pPr>
            <a:r>
              <a:t>Level 2: 深度汇编优化 (8086/8087)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780000"/>
            <a:ext cx="2520000" cy="1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000" y="3851999"/>
            <a:ext cx="23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最小化内存间接寻址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000" y="4212000"/>
            <a:ext cx="2304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C3C3C"/>
                </a:solidFill>
              </a:defRPr>
            </a:pPr>
            <a:r>
              <a:t>频繁使用的值保存在寄存器 (SI, DI, BP)</a:t>
            </a:r>
            <a:br/>
            <a:r>
              <a:t>预加载下一个 S[i] 同时计算当前乘积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0000" y="3780000"/>
            <a:ext cx="2520000" cy="1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8000" y="3851999"/>
            <a:ext cx="23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FP运算与地址计算重叠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8000" y="4212000"/>
            <a:ext cx="2304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C3C3C"/>
                </a:solidFill>
              </a:defRPr>
            </a:pPr>
            <a:r>
              <a:t>8087 FPU可与整数地址计算并行</a:t>
            </a:r>
            <a:br/>
            <a:r>
              <a:t>利用FPU栈 (ST0-ST7) 流水线化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0000" y="3780000"/>
            <a:ext cx="2520000" cy="1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8000" y="3851999"/>
            <a:ext cx="23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2× 内层循环展开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8000" y="4212000"/>
            <a:ext cx="2304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C3C3C"/>
                </a:solidFill>
              </a:defRPr>
            </a:pPr>
            <a:r>
              <a:t>同时加载 S[i] 和 S[i+1]</a:t>
            </a:r>
            <a:br/>
            <a:r>
              <a:t>从同一基址计算 K[j] 和 K[j-1]</a:t>
            </a:r>
            <a:br/>
            <a:r>
              <a:t>两次CMUL操作交错执行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0000" y="3780000"/>
            <a:ext cx="2520000" cy="1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28000" y="3851999"/>
            <a:ext cx="23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内联宏替代函数调用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28000" y="4212000"/>
            <a:ext cx="2304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C3C3C"/>
                </a:solidFill>
              </a:defRPr>
            </a:pPr>
            <a:r>
              <a:t>消除内循环CALL/RET开销</a:t>
            </a:r>
            <a:br/>
            <a:r>
              <a:t>每次CALL ~20周期, 节省~200周期/迭代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0" tIns="1800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优化策略: AVX2向量化 &amp; FFT频域加速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16000"/>
            <a:ext cx="12192119" cy="34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C8DC"/>
                </a:solidFill>
              </a:defRPr>
            </a:pPr>
            <a:r>
              <a:t>1D Complex Signal Convolution — Performance &amp; Optimization 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152000"/>
            <a:ext cx="5580000" cy="2340000"/>
          </a:xfrm>
          <a:prstGeom prst="roundRect">
            <a:avLst/>
          </a:prstGeom>
          <a:solidFill>
            <a:srgbClr val="DCEBFA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224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Level 3: AVX2 + FMA 向量化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512000"/>
            <a:ext cx="504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3C3C3C"/>
                </a:solidFill>
              </a:defRPr>
            </a:pPr>
            <a:r>
              <a:t>256-bit YMM寄存器 = 8×float = 4×复数</a:t>
            </a:r>
          </a:p>
          <a:p>
            <a:pPr>
              <a:spcAft>
                <a:spcPts val="400"/>
              </a:spcAft>
              <a:defRPr sz="400" b="0">
                <a:solidFill>
                  <a:srgbClr val="3C3C3C"/>
                </a:solidFill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3C3C3C"/>
                </a:solidFill>
              </a:defRPr>
            </a:pPr>
            <a:r>
              <a:t>复数乘法核心指令序列: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  ymm2 = vshufps(ymm1, 0xA0)   // 广播实部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  ymm3 = vshufps(ymm1, 0xF5)   // 广播虚部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  ymm4 = vmulps(ymm0, ymm2)    // 实部乘积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  ymm5 = vmulps(ymm0, ymm3)    // 虚部乘积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  ymm5 = vshufps(ymm5, 0xB1)   // 交换实/虚对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  result = vaddsubps(ymm4, ymm5)</a:t>
            </a:r>
          </a:p>
          <a:p>
            <a:pPr>
              <a:spcAft>
                <a:spcPts val="400"/>
              </a:spcAft>
              <a:defRPr sz="400" b="0">
                <a:solidFill>
                  <a:srgbClr val="3C3C3C"/>
                </a:solidFill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3C3C3C"/>
                </a:solidFill>
              </a:defRPr>
            </a:pPr>
            <a:r>
              <a:t>预期加速比: 3-4× (每次迭代2个复数结果)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每次迭代处理 4个float = 2个复数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1152000"/>
            <a:ext cx="5580000" cy="234000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0000" y="1224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</a:defRPr>
            </a:pPr>
            <a:r>
              <a:t>Level 4: FFT频域卷积 (Overlap-Add)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0000" y="1512000"/>
            <a:ext cx="504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C3C3C"/>
                </a:solidFill>
              </a:defRPr>
            </a:pPr>
            <a:r>
              <a:t>当 M &gt; 64, O(NM) 变得不可接受</a:t>
            </a:r>
          </a:p>
          <a:p>
            <a:pPr>
              <a:spcAft>
                <a:spcPts val="400"/>
              </a:spcAft>
              <a:defRPr sz="400" b="0">
                <a:solidFill>
                  <a:srgbClr val="3C3C3C"/>
                </a:solidFill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3C3C3C"/>
                </a:solidFill>
              </a:defRPr>
            </a:pPr>
            <a:r>
              <a:t>算法流程: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  1. 选择块大小 B (~M)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  2. FFT大小 L = next_pow2(2B-1)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  3. 预计算: K_fft = FFT(K, L)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  4. 每个块: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     a. 补零到 L, FFT 变换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     b. 频域逐点复数乘法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     c. IFFT 变回时域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     d. Overlap-Add 到输出缓冲</a:t>
            </a:r>
          </a:p>
          <a:p>
            <a:pPr>
              <a:spcAft>
                <a:spcPts val="400"/>
              </a:spcAft>
              <a:defRPr sz="400" b="0">
                <a:solidFill>
                  <a:srgbClr val="3C3C3C"/>
                </a:solidFill>
              </a:defRPr>
            </a:pPr>
          </a:p>
          <a:p>
            <a:pPr>
              <a:spcAft>
                <a:spcPts val="400"/>
              </a:spcAft>
              <a:defRPr sz="1100" b="1">
                <a:solidFill>
                  <a:srgbClr val="3C3C3C"/>
                </a:solidFill>
              </a:defRPr>
            </a:pPr>
            <a:r>
              <a:t>复杂度: O(L log L) vs O(NM)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3671999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FFT vs Direct 盈亏平衡分析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0000" y="4031999"/>
          <a:ext cx="6840000" cy="1511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1980000"/>
                <a:gridCol w="1980000"/>
                <a:gridCol w="162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N=M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Direct (FLOP)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FFT (FLOP)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胜出方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3,584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18,432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Direct →</a:t>
                      </a:r>
                    </a:p>
                  </a:txBody>
                  <a:tcPr/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56,320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55,296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≈持平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901,120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258,048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← FFT (3.5×)</a:t>
                      </a:r>
                    </a:p>
                  </a:txBody>
                  <a:tcPr/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1024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14.4M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1.3M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← FFT (11×)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4096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230M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5.5M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← FFT (42×)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300000" y="3671999"/>
            <a:ext cx="5580000" cy="1980000"/>
          </a:xfrm>
          <a:prstGeom prst="roundRect">
            <a:avLst/>
          </a:prstGeom>
          <a:solidFill>
            <a:srgbClr val="27AE60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0000" y="3744000"/>
            <a:ext cx="5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关键发现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0000" y="4068000"/>
            <a:ext cx="50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盈亏平衡点: N=M ≈ 40-60</a:t>
            </a:r>
          </a:p>
          <a:p>
            <a:pPr>
              <a:spcAft>
                <a:spcPts val="400"/>
              </a:spcAft>
              <a:defRPr sz="4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小卷积核 (M&lt;40): Direct 更快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中等卷积核: 性能相近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大卷积核 (M&gt;100): FFT 大幅领先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极限加速 (N=M=4096): 42× faster</a:t>
            </a:r>
          </a:p>
          <a:p>
            <a:pPr>
              <a:spcAft>
                <a:spcPts val="400"/>
              </a:spcAft>
              <a:defRPr sz="4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算法选择的优化效果远超微优化!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0" tIns="1800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性能对比: 基准测试结果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16000"/>
            <a:ext cx="12192119" cy="34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C8DC"/>
                </a:solidFill>
              </a:defRPr>
            </a:pPr>
            <a:r>
              <a:t>1D Complex Signal Convolution — Performance &amp; Optimization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152000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C3C3C"/>
                </a:solidFill>
              </a:defRPr>
            </a:pPr>
            <a:r>
              <a:t>平台: Intel Core i7-12700H (4.7 GHz)  |  AVX2/FMA  |  GCC 13.2 -O2  |  FFTW 3.x  |  OpenBLAS 0.3.x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0000" y="1512000"/>
          <a:ext cx="9720000" cy="17639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1980000"/>
                <a:gridCol w="1980000"/>
                <a:gridCol w="1980000"/>
                <a:gridCol w="198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实现方式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N=256 M=64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N=1024 M=256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N=4096 M=1024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N=128 M=512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emu8086 (swFP)*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~4.2s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~65s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~1050s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~10s</a:t>
                      </a:r>
                    </a:p>
                  </a:txBody>
                  <a:tcPr/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Naive C (基准)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1,280 us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48,200 us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3,120,000 us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620 us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Unrolled C (4×)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890 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32,100 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2,080,000 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430 us</a:t>
                      </a:r>
                    </a:p>
                  </a:txBody>
                  <a:tcPr/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AVX2 SIMD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380 us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13,800 us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890,000 us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180 us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FFTW3 (FFT)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520 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6,400 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110,000 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95 us</a:t>
                      </a:r>
                    </a:p>
                  </a:txBody>
                  <a:tcPr/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OpenBLAS (cgemv)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410 us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15,200 us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980,000 us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195 us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0000" y="3708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C3C3C"/>
                </a:solidFill>
              </a:defRPr>
            </a:pPr>
            <a:r>
              <a:t>* emu8086 估值基于 ~200周期/浮点操作 @ 5MHz 模拟时钟  |  黄色高亮 = 该配置最优方案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4031999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加速比 vs Naive C (N=4096, M=1024)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4392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C3C3C"/>
                </a:solidFill>
              </a:defRPr>
            </a:pPr>
            <a:r>
              <a:t>Naive C</a:t>
            </a:r>
          </a:p>
        </p:txBody>
      </p:sp>
      <p:sp>
        <p:nvSpPr>
          <p:cNvPr id="9" name="Rectangle 8"/>
          <p:cNvSpPr/>
          <p:nvPr/>
        </p:nvSpPr>
        <p:spPr>
          <a:xfrm>
            <a:off x="2232000" y="4428000"/>
            <a:ext cx="108000" cy="21600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12000" y="4392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C3C3C"/>
                </a:solidFill>
              </a:defRPr>
            </a:pPr>
            <a:r>
              <a:t>1.00×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4788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C3C3C"/>
                </a:solidFill>
              </a:defRPr>
            </a:pPr>
            <a:r>
              <a:t>Unrolled 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32000" y="4824000"/>
            <a:ext cx="180000" cy="21600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84000" y="4788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C3C3C"/>
                </a:solidFill>
              </a:defRPr>
            </a:pPr>
            <a:r>
              <a:t>1.50×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5183999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C3C3C"/>
                </a:solidFill>
              </a:defRPr>
            </a:pPr>
            <a:r>
              <a:t>AVX2 SIMD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32000" y="5219999"/>
            <a:ext cx="432000" cy="216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36000" y="5183999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699"/>
                </a:solidFill>
              </a:defRPr>
            </a:pPr>
            <a:r>
              <a:t>3.51×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5580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C3C3C"/>
                </a:solidFill>
              </a:defRPr>
            </a:pPr>
            <a:r>
              <a:t>OpenBLAS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32000" y="5616000"/>
            <a:ext cx="396000" cy="216000"/>
          </a:xfrm>
          <a:prstGeom prst="rect">
            <a:avLst/>
          </a:prstGeom>
          <a:solidFill>
            <a:srgbClr val="64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00000" y="5580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64C8"/>
                </a:solidFill>
              </a:defRPr>
            </a:pPr>
            <a:r>
              <a:t>3.18×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5976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C3C3C"/>
                </a:solidFill>
              </a:defRPr>
            </a:pPr>
            <a:r>
              <a:t>FFTW3 FFT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32000" y="6012000"/>
            <a:ext cx="3420000" cy="216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000" y="5976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7E22"/>
                </a:solidFill>
              </a:defRPr>
            </a:pPr>
            <a:r>
              <a:t>28.40×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0000" y="4031999"/>
            <a:ext cx="5940000" cy="22320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0000" y="4104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</a:defRPr>
            </a:pPr>
            <a:r>
              <a:t>GFLOPS 效率 (峰值: 75.2 GFLOPS)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120000" y="4392000"/>
          <a:ext cx="5580000" cy="1511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620000"/>
                <a:gridCol w="198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实现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GFLOPS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% 峰值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Naive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2.8%</a:t>
                      </a:r>
                    </a:p>
                  </a:txBody>
                  <a:tcPr/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Unrolled 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3.1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4.1%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AVX2 SIMD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7.4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9.8%</a:t>
                      </a:r>
                    </a:p>
                  </a:txBody>
                  <a:tcPr/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OpenBLAS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6.7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8.9%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FFTW3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18.5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24.6%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300000" y="5832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</a:defRPr>
            </a:pPr>
            <a:r>
              <a:t>FFTW3 达到峰值效率的 24.6%，远超其他方案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0" tIns="1800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单线程 vs OpenBLAS 深度分析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16000"/>
            <a:ext cx="12192119" cy="34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C8DC"/>
                </a:solidFill>
              </a:defRPr>
            </a:pPr>
            <a:r>
              <a:t>1D Complex Signal Convolution — Performance &amp; Optimization 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152000"/>
            <a:ext cx="11160000" cy="1260000"/>
          </a:xfrm>
          <a:prstGeom prst="roundRect">
            <a:avLst/>
          </a:prstGeom>
          <a:solidFill>
            <a:srgbClr val="DCEBFA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22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分析背景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512000"/>
            <a:ext cx="104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OpenBLAS 使用高度优化的汇编内核 (cgemv用于矩阵-向量乘). 1D卷积可以转换为矩阵-向量乘法.</a:t>
            </a: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将 1D卷积 S*K 转化为 Toeplitz 矩阵乘向量, 可利用 OpenBLAS cgemv 实现.</a:t>
            </a: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我们的对比涵盖三个区间: 小卷积核 / 中等卷积核 / 大卷积核, 揭示各自的优劣势.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2700000"/>
            <a:ext cx="3600000" cy="1980000"/>
          </a:xfrm>
          <a:prstGeom prst="roundRect">
            <a:avLst/>
          </a:prstGeom>
          <a:solidFill>
            <a:srgbClr val="DCEBFA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2772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</a:defRPr>
            </a:pPr>
            <a:r>
              <a:t>小卷积核 (M &lt; 32)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060000"/>
            <a:ext cx="32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C3C3C"/>
                </a:solidFill>
              </a:defRPr>
            </a:pPr>
            <a:r>
              <a:t>M &lt; 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3204000"/>
            <a:ext cx="32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▸ 我们的AVX2直接法可匹敌或略微超越OpenBLAS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▸ OpenBLAS cgemv 有固定函数调用开销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▸ 手写内循环避免了BLAS抽象层开销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▸ 结论: AVX2 ≈ OpenBLAS, 有时略优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0" y="2700000"/>
            <a:ext cx="3600000" cy="198000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0000" y="2772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</a:defRPr>
            </a:pPr>
            <a:r>
              <a:t>中等卷积核 (32 &lt; M &lt; 256)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0000" y="3060000"/>
            <a:ext cx="32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C3C3C"/>
                </a:solidFill>
              </a:defRPr>
            </a:pPr>
            <a:r>
              <a:t>32 &lt; M &lt; 256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0000" y="3204000"/>
            <a:ext cx="32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▸ OpenBLAS 通常胜出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▸ 更好的缓存分块策略 (数十年优化积累)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▸ 复杂预取策略 (软件+硬件预取)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▸ 结论: OpenBLAS &gt; AVX2 直接法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0000" y="2700000"/>
            <a:ext cx="3600000" cy="198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0000" y="2772000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</a:defRPr>
            </a:pPr>
            <a:r>
              <a:t>大卷积核 (M &gt; 256)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000" y="3060000"/>
            <a:ext cx="32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C3C3C"/>
                </a:solidFill>
              </a:defRPr>
            </a:pPr>
            <a:r>
              <a:t>M &gt; 256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0000" y="3204000"/>
            <a:ext cx="32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▸ FFT方法全面领先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▸ O(N log N) ≪ O(NM) 复杂度优势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▸ 单线程FFT比单线程OpenBLAS快 3-4×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▸ 结论: FFTW &gt;&gt; OpenBLAS &gt;&gt; 直接法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0000" y="4860000"/>
            <a:ext cx="11160000" cy="1260000"/>
          </a:xfrm>
          <a:prstGeom prst="roundRect">
            <a:avLst/>
          </a:prstGeom>
          <a:solidFill>
            <a:srgbClr val="003366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0000" y="4932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核心结论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000" y="5256000"/>
            <a:ext cx="104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1. 小卷积核场景: 手写AVX2可以匹敌OpenBLAS, 因为避免了BLAS抽象开销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2. 中等卷积核: OpenBLAS凭借数十年优化的缓存策略胜出, 但差距不大 (~10-20%)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3. 大卷积核: FFT方法凭借 O(N log N) 复杂度碾压一切, 比OpenBLAS快 3-4×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4. 关键启示: 针对卷积这一特定问题, 专用FFT方案优于通用BLAS库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0" tIns="1800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CPU向量加速扩展: ARM NEON &amp; SVE 设计方案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16000"/>
            <a:ext cx="12192119" cy="34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C8DC"/>
                </a:solidFill>
              </a:defRPr>
            </a:pPr>
            <a:r>
              <a:t>1D Complex Signal Convolution — Performance &amp; Optimization 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152000"/>
            <a:ext cx="5400000" cy="2520000"/>
          </a:xfrm>
          <a:prstGeom prst="roundRect">
            <a:avLst/>
          </a:prstGeom>
          <a:solidFill>
            <a:srgbClr val="DCEBFA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224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ARM NEON (128-bit SIMD)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548000"/>
            <a:ext cx="486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3C3C3C"/>
                </a:solidFill>
              </a:defRPr>
            </a:pPr>
            <a:r>
              <a:t>硬件规格:</a:t>
            </a: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  • 32个 128-bit NEON寄存器</a:t>
            </a: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  • 每个寄存器 = 4 × float32</a:t>
            </a: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  • ARMv7/v8 广泛支持</a:t>
            </a:r>
          </a:p>
          <a:p>
            <a:pPr>
              <a:spcAft>
                <a:spcPts val="400"/>
              </a:spcAft>
              <a:defRPr sz="400" b="0">
                <a:solidFill>
                  <a:srgbClr val="3C3C3C"/>
                </a:solidFill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3C3C3C"/>
                </a:solidFill>
              </a:defRPr>
            </a:pPr>
            <a:r>
              <a:t>复数乘法核心指令: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  float32x4_t a = vld1q_f32(s_ptr);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  float32x4_t c = vld1q_f32(k_ptr);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  float32x4_t ac = vmulq_f32(a, c);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  float32x4_t a_sw = vrev64q_f32(a);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  // vrev64q_f32: 交换实部/虚部对</a:t>
            </a:r>
          </a:p>
          <a:p>
            <a:pPr>
              <a:spcAft>
                <a:spcPts val="400"/>
              </a:spcAft>
              <a:defRPr sz="400" b="0">
                <a:solidFill>
                  <a:srgbClr val="3C3C3C"/>
                </a:solidFill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特点: 指令集与AVX2类似, shuffle命名不同</a:t>
            </a: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适配: 树莓派、手机、嵌入式ARM设备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1152000"/>
            <a:ext cx="5580000" cy="252000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0000" y="1224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7E22"/>
                </a:solidFill>
              </a:defRPr>
            </a:pPr>
            <a:r>
              <a:t>ARM SVE (可扩展向量扩展)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0000" y="1548000"/>
            <a:ext cx="504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3C3C3C"/>
                </a:solidFill>
              </a:defRPr>
            </a:pPr>
            <a:r>
              <a:t>硬件规格:</a:t>
            </a: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  • 可变长度向量: 128 – 2048 bits</a:t>
            </a: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  • 谓词寄存器 (Predicate) 自动尾处理</a:t>
            </a: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  • ARMv9-A 架构引入</a:t>
            </a:r>
          </a:p>
          <a:p>
            <a:pPr>
              <a:spcAft>
                <a:spcPts val="400"/>
              </a:spcAft>
              <a:defRPr sz="400" b="0">
                <a:solidFill>
                  <a:srgbClr val="3C3C3C"/>
                </a:solidFill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3C3C3C"/>
                </a:solidFill>
              </a:defRPr>
            </a:pPr>
            <a:r>
              <a:t>SVE 汇编代码示例: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  ld1w  z0.s, p0/z, [x0]   // 谓词加载S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  ld1w  z1.s, p0/z, [x1]   // 谓词加载K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  fmul  z2.s, z0.s, z1.s   // 逐元素乘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  fadd  z3.s, z3.s, z2.s   // 谓词累加</a:t>
            </a:r>
          </a:p>
          <a:p>
            <a:pPr>
              <a:spcAft>
                <a:spcPts val="400"/>
              </a:spcAft>
              <a:defRPr sz="400" b="0">
                <a:solidFill>
                  <a:srgbClr val="3C3C3C"/>
                </a:solidFill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3C3C3C"/>
                </a:solidFill>
              </a:defRPr>
            </a:pPr>
            <a:r>
              <a:t>最大优势: 无需单独写尾循环!</a:t>
            </a: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  谓词自动处理非对齐的尾部元素</a:t>
            </a: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  一套代码适配所有向量宽度</a:t>
            </a: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  适用: HPC、服务器、新一代ARM芯片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3851999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SIMD方案对比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0000" y="4212000"/>
          <a:ext cx="9180000" cy="2015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1800000"/>
                <a:gridCol w="1800000"/>
                <a:gridCol w="1800000"/>
                <a:gridCol w="198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特性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x86 SSE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x86 AVX2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ARM NEON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ARM SVE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向量宽度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128-bit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256-bit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128-bit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128-2048-bit</a:t>
                      </a:r>
                    </a:p>
                  </a:txBody>
                  <a:tcPr/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float32/向量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4-64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复数/向量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2-32</a:t>
                      </a:r>
                    </a:p>
                  </a:txBody>
                  <a:tcPr/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尾循环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需手动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需手动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需手动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谓词自动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FMA支持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否 (SSE)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是 (FMA3)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是 (VFPv4)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是</a:t>
                      </a:r>
                    </a:p>
                  </a:txBody>
                  <a:tcPr/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可移植性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x86 only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x86 only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ARM only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ARMv9+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适用场景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通用x86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高性能x86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嵌入式/移动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HPC/服务器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0" tIns="1800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验证方法与测试用例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16000"/>
            <a:ext cx="12192119" cy="34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C8DC"/>
                </a:solidFill>
              </a:defRPr>
            </a:pPr>
            <a:r>
              <a:t>1D Complex Signal Convolution — Performance &amp; Optimization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152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三层验证流程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440000"/>
            <a:ext cx="540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003366"/>
                </a:solidFill>
              </a:defRPr>
            </a:pPr>
            <a:r>
              <a:t>+------------------+     +------------------+     +------------------+</a:t>
            </a:r>
          </a:p>
          <a:p>
            <a:pPr>
              <a:spcAft>
                <a:spcPts val="400"/>
              </a:spcAft>
              <a:defRPr sz="1000" b="0">
                <a:solidFill>
                  <a:srgbClr val="003366"/>
                </a:solidFill>
              </a:defRPr>
            </a:pPr>
            <a:r>
              <a:t>| 1. MATLAB        |     | 2. C Reference   |     | 3. emu8086       |</a:t>
            </a:r>
          </a:p>
          <a:p>
            <a:pPr>
              <a:spcAft>
                <a:spcPts val="400"/>
              </a:spcAft>
              <a:defRPr sz="1000" b="0">
                <a:solidFill>
                  <a:srgbClr val="003366"/>
                </a:solidFill>
              </a:defRPr>
            </a:pPr>
            <a:r>
              <a:t>| test_conv.m      |────&gt;| conv_ref.c       |────&gt;| conv.asm         |</a:t>
            </a:r>
          </a:p>
          <a:p>
            <a:pPr>
              <a:spcAft>
                <a:spcPts val="400"/>
              </a:spcAft>
              <a:defRPr sz="1000" b="0">
                <a:solidFill>
                  <a:srgbClr val="003366"/>
                </a:solidFill>
              </a:defRPr>
            </a:pPr>
            <a:r>
              <a:t>| 生成随机输入     |     | 读取golden.bin  |     | 读取输入数据     |</a:t>
            </a:r>
          </a:p>
          <a:p>
            <a:pPr>
              <a:spcAft>
                <a:spcPts val="400"/>
              </a:spcAft>
              <a:defRPr sz="1000" b="0">
                <a:solidFill>
                  <a:srgbClr val="003366"/>
                </a:solidFill>
              </a:defRPr>
            </a:pPr>
            <a:r>
              <a:t>| 保存golden.bin   |     | 对比输出结果     |     | dump内存数据     |</a:t>
            </a:r>
          </a:p>
          <a:p>
            <a:pPr>
              <a:spcAft>
                <a:spcPts val="400"/>
              </a:spcAft>
              <a:defRPr sz="1000" b="0">
                <a:solidFill>
                  <a:srgbClr val="003366"/>
                </a:solidFill>
              </a:defRPr>
            </a:pPr>
            <a:r>
              <a:t>+------------------+     +------------------+     +------------------+</a:t>
            </a:r>
          </a:p>
          <a:p>
            <a:pPr>
              <a:spcAft>
                <a:spcPts val="400"/>
              </a:spcAft>
              <a:defRPr sz="1000" b="0">
                <a:solidFill>
                  <a:srgbClr val="003366"/>
                </a:solidFill>
              </a:defRPr>
            </a:pPr>
            <a:r>
              <a:t>        |                        |                        |</a:t>
            </a:r>
          </a:p>
          <a:p>
            <a:pPr>
              <a:spcAft>
                <a:spcPts val="400"/>
              </a:spcAft>
              <a:defRPr sz="1000" b="0">
                <a:solidFill>
                  <a:srgbClr val="003366"/>
                </a:solidFill>
              </a:defRPr>
            </a:pPr>
            <a:r>
              <a:t>        v                        v                        v</a:t>
            </a:r>
          </a:p>
          <a:p>
            <a:pPr>
              <a:spcAft>
                <a:spcPts val="400"/>
              </a:spcAft>
              <a:defRPr sz="1000" b="0">
                <a:solidFill>
                  <a:srgbClr val="003366"/>
                </a:solidFill>
              </a:defRPr>
            </a:pPr>
            <a:r>
              <a:t>   Golden Truth           Bit-exact Match           Manual Compare</a:t>
            </a:r>
          </a:p>
          <a:p>
            <a:pPr>
              <a:spcAft>
                <a:spcPts val="400"/>
              </a:spcAft>
              <a:defRPr sz="1000" b="0">
                <a:solidFill>
                  <a:srgbClr val="003366"/>
                </a:solidFill>
              </a:defRPr>
            </a:pPr>
            <a:r>
              <a:t>   (double precision)     (float32 tolerance)       (hex dump vs golden)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0000" y="1152000"/>
            <a:ext cx="5580000" cy="2340000"/>
          </a:xfrm>
          <a:prstGeom prst="roundRect">
            <a:avLst/>
          </a:prstGeom>
          <a:solidFill>
            <a:srgbClr val="DCEBFA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0" y="1224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测试用例矩阵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80000" y="1512000"/>
          <a:ext cx="5400000" cy="1511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/>
                <a:gridCol w="900000"/>
                <a:gridCol w="900000"/>
                <a:gridCol w="198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用例类型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确定性小输入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手工可验证</a:t>
                      </a:r>
                    </a:p>
                  </a:txBody>
                  <a:tcPr/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Emu规模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模拟器实际测试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中等规模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典型信号处理</a:t>
                      </a:r>
                    </a:p>
                  </a:txBody>
                  <a:tcPr/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大规模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256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性能压力测试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宽卷积核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FFT优势验证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660000" y="2808000"/>
            <a:ext cx="50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3C3C3C"/>
                </a:solidFill>
              </a:defRPr>
            </a:pPr>
            <a:r>
              <a:t>验证标准:</a:t>
            </a: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  • C vs MATLAB: 最大误差 &lt; 1e-6 (float32容差)</a:t>
            </a: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  • 汇编 vs C: hex dump 逐字节比对</a:t>
            </a:r>
          </a:p>
          <a:p>
            <a:pPr>
              <a:spcAft>
                <a:spcPts val="400"/>
              </a:spcAft>
              <a:defRPr sz="1200" b="0">
                <a:solidFill>
                  <a:srgbClr val="3C3C3C"/>
                </a:solidFill>
              </a:defRPr>
            </a:pPr>
            <a:r>
              <a:t>  • 所有优化版本 vs Naive C: 误差 &lt; 1e-5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000" y="3851999"/>
            <a:ext cx="11160000" cy="21600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392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项目文件清单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8000" y="4248000"/>
          <a:ext cx="7380000" cy="2267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00"/>
                <a:gridCol w="720000"/>
                <a:gridCol w="432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文件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行数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描述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src/float32.asm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~450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IEEE 754 软件FP (fadd, fsub, fmul, fcmp, itof, ftoi)</a:t>
                      </a:r>
                    </a:p>
                  </a:txBody>
                  <a:tcPr/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src/complex.asm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~160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复数运算 (cmul, cadd, czero, ccopy)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src/conv.asm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~220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直接O(NM)卷积 (conv)</a:t>
                      </a:r>
                    </a:p>
                  </a:txBody>
                  <a:tcPr/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src/test.asm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~100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emu8086 测试程序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ref/conv_ref.c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~170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C99 参考实现 (验证golden)</a:t>
                      </a:r>
                    </a:p>
                  </a:txBody>
                  <a:tcPr/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ref/benchmark.c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~320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性能对比 (naive/unrolled/AVX2/FFTW)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matlab/test_conv.m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~100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MATLAB golden参考生成器</a:t>
                      </a:r>
                    </a:p>
                  </a:txBody>
                  <a:tcPr/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doc/report.docx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C3C3C"/>
                          </a:solidFill>
                        </a:defRPr>
                      </a:pPr>
                      <a:r>
                        <a:t>项目报告 (Word文档)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007999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0" tIns="18000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总结与结论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16000"/>
            <a:ext cx="12192119" cy="342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4C8DC"/>
                </a:solidFill>
              </a:defRPr>
            </a:pPr>
            <a:r>
              <a:t>1D Complex Signal Convolution — Performance &amp; Optimization 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1152000"/>
            <a:ext cx="2160000" cy="2520000"/>
          </a:xfrm>
          <a:prstGeom prst="roundRect">
            <a:avLst/>
          </a:prstGeom>
          <a:solidFill>
            <a:srgbClr val="DCEBFA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224000"/>
            <a:ext cx="19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3366"/>
                </a:solidFill>
              </a:defRPr>
            </a:pPr>
            <a:r>
              <a:t>🔴 8086软件浮点可行但慢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800000"/>
            <a:ext cx="19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每次浮点操作需150-300周期, 实时DSP不现实.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建议使用8087 FPU或定点量化.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1152000"/>
            <a:ext cx="2160000" cy="2520000"/>
          </a:xfrm>
          <a:prstGeom prst="roundRect">
            <a:avLst/>
          </a:prstGeom>
          <a:solidFill>
            <a:srgbClr val="DCEBFA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0000" y="1224000"/>
            <a:ext cx="19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3366"/>
                </a:solidFill>
              </a:defRPr>
            </a:pPr>
            <a:r>
              <a:t>🔵 模块化汇编设计收益高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0000" y="1800000"/>
            <a:ext cx="19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FADD/FMUL原语可复用于任何FP应用.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清晰的模块边界便于测试与维护.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20000" y="1152000"/>
            <a:ext cx="2160000" cy="2520000"/>
          </a:xfrm>
          <a:prstGeom prst="roundRect">
            <a:avLst/>
          </a:prstGeom>
          <a:solidFill>
            <a:srgbClr val="DCEBFA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0" y="1224000"/>
            <a:ext cx="19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3366"/>
                </a:solidFill>
              </a:defRPr>
            </a:pPr>
            <a:r>
              <a:t>🟠 算法选择碾压微优化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0" y="1800000"/>
            <a:ext cx="19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大核(M&gt;64): FFT O(N log N) 比 直接 O(NM) 快10-42×.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优化级别远超任何代码级的优化.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60000" y="1152000"/>
            <a:ext cx="2160000" cy="2520000"/>
          </a:xfrm>
          <a:prstGeom prst="roundRect">
            <a:avLst/>
          </a:prstGeom>
          <a:solidFill>
            <a:srgbClr val="DCEBFA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0000" y="1224000"/>
            <a:ext cx="19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3366"/>
                </a:solidFill>
              </a:defRPr>
            </a:pPr>
            <a:r>
              <a:t>🟢 单线程FFT超越OpenBLAS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0000" y="1800000"/>
            <a:ext cx="19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FFTW3针对卷积优于OpenBLAS cgemv 3-4×.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通用BLAS库并非所有场景最优.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00000" y="1152000"/>
            <a:ext cx="2160000" cy="2520000"/>
          </a:xfrm>
          <a:prstGeom prst="roundRect">
            <a:avLst/>
          </a:prstGeom>
          <a:solidFill>
            <a:srgbClr val="DCEBFA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0000" y="1224000"/>
            <a:ext cx="19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3366"/>
                </a:solidFill>
              </a:defRPr>
            </a:pPr>
            <a:r>
              <a:t>🔷 现代SIMD加速3-4×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80000" y="1800000"/>
            <a:ext cx="19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AVX2处理4复数/指令, 达峰值效率24.6%.</a:t>
            </a:r>
          </a:p>
          <a:p>
            <a:pPr>
              <a:spcAft>
                <a:spcPts val="400"/>
              </a:spcAft>
              <a:defRPr sz="1100" b="0">
                <a:solidFill>
                  <a:srgbClr val="3C3C3C"/>
                </a:solidFill>
              </a:defRPr>
            </a:pPr>
            <a:r>
              <a:t>SVE谓词自动尾处理省去尾循环代码.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0000" y="3960000"/>
            <a:ext cx="11160000" cy="1620000"/>
          </a:xfrm>
          <a:prstGeom prst="roundRect">
            <a:avLst/>
          </a:prstGeom>
          <a:solidFill>
            <a:srgbClr val="003366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0000" y="4031999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项目完成情况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000" y="4320000"/>
            <a:ext cx="104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✓ 核心目标: 1D复数卷积, emu8086 + C99 + MATLAB, 结果与MATLAB一致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✓ 加分1: 完整性能对比 (基准 → 简单优化 → 深度汇编 → AVX2 → FFT)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✓ 加分2: CPU向量加速方案 (AVX2实现 + NEON/SVE设计方案)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✓ 加分3: FFT实现大卷积核加速, 盈亏平衡分析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✓ 加分4: 单线程 vs OpenBLAS 深度对比, 证明专用方案优势</a:t>
            </a:r>
          </a:p>
          <a:p>
            <a:pPr>
              <a:spcAft>
                <a:spcPts val="400"/>
              </a:spcAft>
              <a:defRPr sz="4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项目展示了从8位CPU到现代SIMD的全栈优化方法论, 揭示了算法选择 &gt; 微优化 &gt; 硬件利用的优化层次.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20000" y="3060000"/>
            <a:ext cx="1800000" cy="28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0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24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4C8DC"/>
                </a:solidFill>
              </a:defRPr>
            </a:pPr>
            <a:r>
              <a:t>1D Complex Signal Convolution — emu8086 to AVX2/FFT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432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A0B4"/>
                </a:solidFill>
              </a:defRPr>
            </a:pPr>
            <a:r>
              <a:t>完整代码: src/ (汇编)  |  ref/ (C基准)  |  matlab/ (golden)</a:t>
            </a:r>
            <a:br/>
            <a:r>
              <a:t>详细文档: doc/report.md  |  doc/report.docx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