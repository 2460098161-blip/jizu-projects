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功能概述（</a:t>
            </a:r>
            <a:r>
              <a:rPr lang="en-US" altLang="zh-CN"/>
              <a:t>15</a:t>
            </a:r>
            <a:r>
              <a:rPr lang="zh-CN" altLang="en-US"/>
              <a:t>秒）：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"</a:t>
            </a:r>
            <a:r>
              <a:rPr lang="zh-CN" altLang="en-US"/>
              <a:t>第二个任务是矩阵乘法，实现了</a:t>
            </a:r>
            <a:r>
              <a:rPr lang="en-US" altLang="zh-CN"/>
              <a:t> A[M</a:t>
            </a:r>
            <a:r>
              <a:rPr lang="en-US" altLang="en-US"/>
              <a:t>×</a:t>
            </a:r>
            <a:r>
              <a:rPr lang="en-US" altLang="zh-CN"/>
              <a:t>N] </a:t>
            </a:r>
            <a:r>
              <a:rPr lang="zh-CN" altLang="en-US"/>
              <a:t>乘</a:t>
            </a:r>
            <a:r>
              <a:rPr lang="en-US" altLang="zh-CN"/>
              <a:t> B[N</a:t>
            </a:r>
            <a:r>
              <a:rPr lang="en-US" altLang="en-US"/>
              <a:t>×</a:t>
            </a:r>
            <a:r>
              <a:rPr lang="en-US" altLang="zh-CN"/>
              <a:t>O] </a:t>
            </a:r>
            <a:r>
              <a:rPr lang="zh-CN" altLang="en-US"/>
              <a:t>等于</a:t>
            </a:r>
            <a:r>
              <a:rPr lang="en-US" altLang="zh-CN"/>
              <a:t> C[M</a:t>
            </a:r>
            <a:r>
              <a:rPr lang="en-US" altLang="en-US"/>
              <a:t>×</a:t>
            </a:r>
            <a:r>
              <a:rPr lang="en-US" altLang="zh-CN"/>
              <a:t>O] </a:t>
            </a:r>
            <a:r>
              <a:rPr lang="zh-CN" altLang="en-US"/>
              <a:t>的通用计算。演示用的是</a:t>
            </a:r>
            <a:r>
              <a:rPr lang="en-US" altLang="zh-CN"/>
              <a:t> 2</a:t>
            </a:r>
            <a:r>
              <a:rPr lang="en-US" altLang="en-US"/>
              <a:t>×</a:t>
            </a:r>
            <a:r>
              <a:rPr lang="en-US" altLang="zh-CN"/>
              <a:t>3 </a:t>
            </a:r>
            <a:r>
              <a:rPr lang="zh-CN" altLang="en-US"/>
              <a:t>乘</a:t>
            </a:r>
            <a:r>
              <a:rPr lang="en-US" altLang="zh-CN"/>
              <a:t> 3</a:t>
            </a:r>
            <a:r>
              <a:rPr lang="en-US" altLang="en-US"/>
              <a:t>×</a:t>
            </a:r>
            <a:r>
              <a:rPr lang="en-US" altLang="zh-CN"/>
              <a:t>2</a:t>
            </a:r>
            <a:r>
              <a:rPr lang="zh-CN" altLang="en-US"/>
              <a:t>，得到</a:t>
            </a:r>
            <a:r>
              <a:rPr lang="en-US" altLang="zh-CN"/>
              <a:t> 2</a:t>
            </a:r>
            <a:r>
              <a:rPr lang="en-US" altLang="en-US"/>
              <a:t>×</a:t>
            </a:r>
            <a:r>
              <a:rPr lang="en-US" altLang="zh-CN"/>
              <a:t>2 </a:t>
            </a:r>
            <a:r>
              <a:rPr lang="zh-CN" altLang="en-US"/>
              <a:t>的结果矩阵。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原理（</a:t>
            </a:r>
            <a:r>
              <a:rPr lang="en-US" altLang="zh-CN"/>
              <a:t>30</a:t>
            </a:r>
            <a:r>
              <a:rPr lang="zh-CN" altLang="en-US"/>
              <a:t>秒）：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"</a:t>
            </a:r>
            <a:r>
              <a:rPr lang="zh-CN" altLang="en-US"/>
              <a:t>算法就是经典的三层循环</a:t>
            </a:r>
            <a:r>
              <a:rPr lang="en-US" altLang="zh-CN"/>
              <a:t>——</a:t>
            </a:r>
            <a:r>
              <a:rPr lang="zh-CN" altLang="en-US"/>
              <a:t>外层遍历结果矩阵的行，中层遍历列，内层做行向量和列向量的点积。矩阵用一维数组按行优先顺序存储，地址换算公式是</a:t>
            </a:r>
            <a:r>
              <a:rPr lang="en-US" altLang="zh-CN"/>
              <a:t> </a:t>
            </a:r>
            <a:r>
              <a:rPr lang="zh-CN" altLang="en-US"/>
              <a:t>行号乘列数加列号，再乘</a:t>
            </a:r>
            <a:r>
              <a:rPr lang="en-US" altLang="zh-CN"/>
              <a:t> 2 </a:t>
            </a:r>
            <a:r>
              <a:rPr lang="zh-CN" altLang="en-US"/>
              <a:t>因为每个</a:t>
            </a:r>
            <a:r>
              <a:rPr lang="en-US" altLang="zh-CN"/>
              <a:t> word</a:t>
            </a:r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</a:t>
            </a:r>
            <a:r>
              <a:rPr lang="zh-CN" altLang="en-US"/>
              <a:t>占两字节。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定点数处理（</a:t>
            </a:r>
            <a:r>
              <a:rPr lang="en-US" altLang="zh-CN"/>
              <a:t>20</a:t>
            </a:r>
            <a:r>
              <a:rPr lang="zh-CN" altLang="en-US"/>
              <a:t>秒）：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"</a:t>
            </a:r>
            <a:r>
              <a:rPr lang="zh-CN" altLang="en-US"/>
              <a:t>和前一个任务一样，这里也用定点数避免浮点</a:t>
            </a:r>
            <a:r>
              <a:rPr lang="en-US" altLang="zh-CN"/>
              <a:t>——</a:t>
            </a:r>
            <a:r>
              <a:rPr lang="zh-CN" altLang="en-US"/>
              <a:t>所有元素存的是实际值乘</a:t>
            </a:r>
            <a:r>
              <a:rPr lang="en-US" altLang="zh-CN"/>
              <a:t> 100</a:t>
            </a:r>
            <a:r>
              <a:rPr lang="zh-CN" altLang="en-US"/>
              <a:t>。做乘法时两个值相乘，乘积是乘了</a:t>
            </a:r>
            <a:r>
              <a:rPr lang="en-US" altLang="zh-CN"/>
              <a:t> 10000 </a:t>
            </a:r>
            <a:r>
              <a:rPr lang="zh-CN" altLang="en-US"/>
              <a:t>的，再除以</a:t>
            </a:r>
            <a:r>
              <a:rPr lang="en-US" altLang="zh-CN"/>
              <a:t> 100 </a:t>
            </a:r>
            <a:r>
              <a:rPr lang="zh-CN" altLang="en-US"/>
              <a:t>就回到乘</a:t>
            </a:r>
            <a:r>
              <a:rPr lang="en-US" altLang="zh-CN"/>
              <a:t> 100 </a:t>
            </a:r>
            <a:r>
              <a:rPr lang="zh-CN" altLang="en-US"/>
              <a:t>的量级，累加到点积里。最后显示时用</a:t>
            </a:r>
            <a:r>
              <a:rPr lang="en-US" altLang="zh-CN"/>
              <a:t> DIV</a:t>
            </a:r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</a:t>
            </a:r>
            <a:r>
              <a:rPr lang="zh-CN" altLang="en-US"/>
              <a:t>分离整数部分和小数部分，补零输出两位小数。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一句话收：</a:t>
            </a:r>
            <a:r>
              <a:rPr lang="en-US" altLang="zh-CN"/>
              <a:t>"&gt;</a:t>
            </a:r>
            <a:r>
              <a:rPr lang="zh-CN" altLang="en-US"/>
              <a:t>关于矩阵乘法的算法原理也就是</a:t>
            </a:r>
            <a:r>
              <a:rPr lang="en-US" altLang="zh-CN"/>
              <a:t> PPT </a:t>
            </a:r>
            <a:r>
              <a:rPr lang="zh-CN" altLang="en-US"/>
              <a:t>右边贴的这张图，我在</a:t>
            </a:r>
            <a:r>
              <a:rPr lang="en-US" altLang="zh-CN"/>
              <a:t> emu8086 </a:t>
            </a:r>
            <a:r>
              <a:rPr lang="zh-CN" altLang="en-US"/>
              <a:t>里跑一下让大家看看实际输出。</a:t>
            </a:r>
            <a:r>
              <a:rPr lang="en-US" altLang="zh-CN"/>
              <a:t>"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r>
              <a:rPr lang="zh-CN" altLang="en-US"/>
              <a:t>左栏</a:t>
            </a:r>
            <a:r>
              <a:rPr lang="en-US" altLang="zh-CN"/>
              <a:t> - </a:t>
            </a:r>
            <a:r>
              <a:rPr lang="zh-CN" altLang="en-US"/>
              <a:t>成绩判定器（约</a:t>
            </a:r>
            <a:r>
              <a:rPr lang="en-US" altLang="zh-CN"/>
              <a:t>30</a:t>
            </a:r>
            <a:r>
              <a:rPr lang="zh-CN" altLang="en-US"/>
              <a:t>秒）：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"</a:t>
            </a:r>
            <a:r>
              <a:rPr lang="zh-CN" altLang="en-US"/>
              <a:t>成绩判定器让我掌握了</a:t>
            </a:r>
            <a:r>
              <a:rPr lang="en-US" altLang="zh-CN"/>
              <a:t> DOS </a:t>
            </a:r>
            <a:r>
              <a:rPr lang="zh-CN" altLang="en-US"/>
              <a:t>中断调用</a:t>
            </a:r>
            <a:r>
              <a:rPr lang="en-US" altLang="zh-CN"/>
              <a:t>——</a:t>
            </a:r>
            <a:r>
              <a:rPr lang="zh-CN" altLang="en-US"/>
              <a:t>用</a:t>
            </a:r>
            <a:r>
              <a:rPr lang="en-US" altLang="zh-CN"/>
              <a:t> INT 21h </a:t>
            </a:r>
            <a:r>
              <a:rPr lang="zh-CN" altLang="en-US"/>
              <a:t>的</a:t>
            </a:r>
            <a:r>
              <a:rPr lang="en-US" altLang="zh-CN"/>
              <a:t> 0Ah </a:t>
            </a:r>
            <a:r>
              <a:rPr lang="zh-CN" altLang="en-US"/>
              <a:t>号功能做缓冲输入、</a:t>
            </a:r>
            <a:r>
              <a:rPr lang="en-US" altLang="zh-CN"/>
              <a:t>09h </a:t>
            </a:r>
            <a:r>
              <a:rPr lang="zh-CN" altLang="en-US"/>
              <a:t>号功能做字符串输出。核心难点是浮点数的处理，</a:t>
            </a:r>
            <a:r>
              <a:rPr lang="en-US" altLang="zh-CN"/>
              <a:t>8086 </a:t>
            </a:r>
            <a:r>
              <a:rPr lang="zh-CN" altLang="en-US"/>
              <a:t>没有浮点指令，所以我把输入分数乘以</a:t>
            </a:r>
            <a:r>
              <a:rPr lang="en-US" altLang="zh-CN"/>
              <a:t> 10</a:t>
            </a:r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</a:t>
            </a:r>
            <a:r>
              <a:rPr lang="zh-CN" altLang="en-US"/>
              <a:t>存成整数，比如</a:t>
            </a:r>
            <a:r>
              <a:rPr lang="en-US" altLang="zh-CN"/>
              <a:t> 89.5 </a:t>
            </a:r>
            <a:r>
              <a:rPr lang="zh-CN" altLang="en-US"/>
              <a:t>存成</a:t>
            </a:r>
            <a:r>
              <a:rPr lang="en-US" altLang="zh-CN"/>
              <a:t> 895</a:t>
            </a:r>
            <a:r>
              <a:rPr lang="zh-CN" altLang="en-US"/>
              <a:t>。解析部分用了一个简单的状态机</a:t>
            </a:r>
            <a:r>
              <a:rPr lang="en-US" altLang="zh-CN"/>
              <a:t>——</a:t>
            </a:r>
            <a:r>
              <a:rPr lang="zh-CN" altLang="en-US"/>
              <a:t>先读整数位，遇到小数点切到小数位，超过一位小数就报错。最后用</a:t>
            </a:r>
            <a:r>
              <a:rPr lang="en-US" altLang="zh-CN"/>
              <a:t> cmp/jae</a:t>
            </a:r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</a:t>
            </a:r>
            <a:r>
              <a:rPr lang="zh-CN" altLang="en-US"/>
              <a:t>级联比较实现等级判定，还加了循环让用户可以多次输入。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右栏</a:t>
            </a:r>
            <a:r>
              <a:rPr lang="en-US" altLang="zh-CN"/>
              <a:t> - </a:t>
            </a:r>
            <a:r>
              <a:rPr lang="zh-CN" altLang="en-US"/>
              <a:t>矩阵乘法（约</a:t>
            </a:r>
            <a:r>
              <a:rPr lang="en-US" altLang="zh-CN"/>
              <a:t>30</a:t>
            </a:r>
            <a:r>
              <a:rPr lang="zh-CN" altLang="en-US"/>
              <a:t>秒）：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"</a:t>
            </a:r>
            <a:r>
              <a:rPr lang="zh-CN" altLang="en-US"/>
              <a:t>矩阵乘法主要锻炼了三层嵌套循环的控制能力。矩阵用一维数组按行优先存储，地址计算是</a:t>
            </a:r>
            <a:r>
              <a:rPr lang="en-US" altLang="zh-CN"/>
              <a:t> (</a:t>
            </a:r>
            <a:r>
              <a:rPr lang="zh-CN" altLang="en-US"/>
              <a:t>行</a:t>
            </a:r>
            <a:r>
              <a:rPr lang="en-US" altLang="en-US"/>
              <a:t>×</a:t>
            </a:r>
            <a:r>
              <a:rPr lang="zh-CN" altLang="en-US"/>
              <a:t>列数</a:t>
            </a:r>
            <a:r>
              <a:rPr lang="en-US" altLang="zh-CN"/>
              <a:t>+</a:t>
            </a:r>
            <a:r>
              <a:rPr lang="zh-CN" altLang="en-US"/>
              <a:t>列</a:t>
            </a:r>
            <a:r>
              <a:rPr lang="en-US" altLang="zh-CN"/>
              <a:t>) </a:t>
            </a:r>
            <a:r>
              <a:rPr lang="en-US" altLang="en-US"/>
              <a:t>×</a:t>
            </a:r>
            <a:r>
              <a:rPr lang="en-US" altLang="zh-CN"/>
              <a:t> 2 </a:t>
            </a:r>
            <a:r>
              <a:rPr lang="zh-CN" altLang="en-US"/>
              <a:t>字节。和成绩判定器一样，这里也用定点数</a:t>
            </a:r>
            <a:r>
              <a:rPr lang="en-US" altLang="zh-CN"/>
              <a:t>——</a:t>
            </a:r>
            <a:r>
              <a:rPr lang="zh-CN" altLang="en-US"/>
              <a:t>所有元素放大</a:t>
            </a:r>
            <a:r>
              <a:rPr lang="en-US" altLang="zh-CN"/>
              <a:t> 100 </a:t>
            </a:r>
            <a:r>
              <a:rPr lang="zh-CN" altLang="en-US"/>
              <a:t>倍，乘完之后除以</a:t>
            </a:r>
            <a:endParaRPr lang="zh-CN" altLang="en-US"/>
          </a:p>
          <a:p>
            <a:r>
              <a:rPr lang="en-US" altLang="zh-CN"/>
              <a:t>  </a:t>
            </a:r>
            <a:r>
              <a:rPr lang="en-US" altLang="en-US"/>
              <a:t>▎</a:t>
            </a:r>
            <a:r>
              <a:rPr lang="en-US" altLang="zh-CN"/>
              <a:t> 100 </a:t>
            </a:r>
            <a:r>
              <a:rPr lang="zh-CN" altLang="en-US"/>
              <a:t>还原，避免了</a:t>
            </a:r>
            <a:r>
              <a:rPr lang="en-US" altLang="zh-CN"/>
              <a:t> 8087 </a:t>
            </a:r>
            <a:r>
              <a:rPr lang="zh-CN" altLang="en-US"/>
              <a:t>协处理器的依赖。写了一个通用的矩阵显示子程序，能自动处理符号和两位小数格式化。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收尾（一句话）：</a:t>
            </a:r>
            <a:r>
              <a:rPr lang="en-US" altLang="zh-CN"/>
              <a:t>"</a:t>
            </a:r>
            <a:r>
              <a:rPr lang="zh-CN" altLang="en-US"/>
              <a:t>整个开发在</a:t>
            </a:r>
            <a:r>
              <a:rPr lang="en-US" altLang="zh-CN"/>
              <a:t> emu8086 </a:t>
            </a:r>
            <a:r>
              <a:rPr lang="zh-CN" altLang="en-US"/>
              <a:t>里完成，通过寄存器窗口和单步调试验证了分支和循环逻辑的正确性。</a:t>
            </a:r>
            <a:r>
              <a:rPr lang="en-US" altLang="zh-CN"/>
              <a:t>"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5400" b="1">
                <a:solidFill>
                  <a:srgbClr val="E94560"/>
                </a:solidFill>
              </a:rPr>
              <a:t>计组汇编实验报告</a:t>
            </a:r>
            <a:endParaRPr lang="zh-CN" sz="5400" b="1">
              <a:solidFill>
                <a:srgbClr val="E945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215" y="5193665"/>
            <a:ext cx="10332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400" b="1">
                <a:solidFill>
                  <a:srgbClr val="FFFFFF"/>
                </a:solidFill>
              </a:rPr>
              <a:t>王睿淇</a:t>
            </a:r>
            <a:r>
              <a:rPr lang="en-US" altLang="zh-CN" sz="2400" b="1">
                <a:solidFill>
                  <a:srgbClr val="FFFFFF"/>
                </a:solidFill>
              </a:rPr>
              <a:t> </a:t>
            </a:r>
            <a:r>
              <a:rPr lang="zh-CN" altLang="en-US" sz="2400" b="1">
                <a:solidFill>
                  <a:srgbClr val="FFFFFF"/>
                </a:solidFill>
              </a:rPr>
              <a:t>顾文韬</a:t>
            </a:r>
            <a:r>
              <a:rPr lang="en-US" altLang="zh-CN" sz="2400" b="1">
                <a:solidFill>
                  <a:srgbClr val="FFFFFF"/>
                </a:solidFill>
              </a:rPr>
              <a:t> </a:t>
            </a:r>
            <a:r>
              <a:rPr lang="zh-CN" altLang="en-US" sz="2400" b="1">
                <a:solidFill>
                  <a:srgbClr val="FFFFFF"/>
                </a:solidFill>
              </a:rPr>
              <a:t>曹子杜</a:t>
            </a:r>
            <a:endParaRPr lang="zh-CN" altLang="en-US" sz="24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6675120" cy="27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3405" y="3019425"/>
            <a:ext cx="850392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AAAABB"/>
                </a:solidFill>
              </a:rPr>
              <a:t>基于 Intel 8086 指令集  |  整数定点运算  |  浮点数处理  |  矩阵运算</a:t>
            </a:r>
            <a:endParaRPr sz="280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任务一：成绩判定器 (Grade Determiner)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350" y="1271905"/>
            <a:ext cx="5303520" cy="3425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4560"/>
                </a:solidFill>
              </a:rPr>
              <a:t>核心功能</a:t>
            </a:r>
            <a:endParaRPr sz="2600" b="1">
              <a:solidFill>
                <a:srgbClr val="E94560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将 0-100 分数（支持小数如 89.5）转换为等级 A~D：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A: Score &gt;= 90          优秀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B: 75 &lt;= Score &lt; 90     良好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C: 60 &lt;= Score &lt; 75     及格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D: Score &lt; 60            不及格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endParaRPr sz="1800" b="0">
              <a:solidFill>
                <a:srgbClr val="33333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18200" y="1271905"/>
            <a:ext cx="609600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800"/>
              </a:spcAft>
            </a:pPr>
            <a:r>
              <a:rPr sz="2200" b="1">
                <a:solidFill>
                  <a:srgbClr val="E94560"/>
                </a:solidFill>
                <a:sym typeface="+mn-ea"/>
              </a:rPr>
              <a:t>关键技术点</a:t>
            </a:r>
            <a:endParaRPr sz="2200" b="1">
              <a:solidFill>
                <a:srgbClr val="E94560"/>
              </a:solidFill>
            </a:endParaRPr>
          </a:p>
          <a:p>
            <a:pPr algn="l">
              <a:spcAft>
                <a:spcPts val="800"/>
              </a:spcAft>
            </a:pPr>
            <a:endParaRPr sz="2200" b="1">
              <a:solidFill>
                <a:srgbClr val="E94560"/>
              </a:solidFill>
            </a:endParaRPr>
          </a:p>
          <a:p>
            <a:pPr algn="l">
              <a:spcAft>
                <a:spcPts val="800"/>
              </a:spcAft>
            </a:pPr>
            <a:r>
              <a:rPr>
                <a:solidFill>
                  <a:srgbClr val="333333"/>
                </a:solidFill>
                <a:sym typeface="+mn-ea"/>
              </a:rPr>
              <a:t>1. 字符串解析：支持整数与一位小数输入（如 89.5）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>
                <a:solidFill>
                  <a:srgbClr val="333333"/>
                </a:solidFill>
                <a:sym typeface="+mn-ea"/>
              </a:rPr>
              <a:t>2. 定点数处理：分数 * 10 转为整数存储，避免浮点运算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>
                <a:solidFill>
                  <a:srgbClr val="333333"/>
                </a:solidFill>
                <a:sym typeface="+mn-ea"/>
              </a:rPr>
              <a:t>3. 逐字符 DFA 解析：整数部分 → '.' → 小数部分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>
                <a:solidFill>
                  <a:srgbClr val="333333"/>
                </a:solidFill>
                <a:sym typeface="+mn-ea"/>
              </a:rPr>
              <a:t>4. 范围校验：&gt;100、&lt;0、非法字符均报错并提示重试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>
                <a:solidFill>
                  <a:srgbClr val="333333"/>
                </a:solidFill>
                <a:sym typeface="+mn-ea"/>
              </a:rPr>
              <a:t>5. 循环执行：支持 Y/N 再次输入，无需重启程序</a:t>
            </a:r>
            <a:endParaRPr sz="1800">
              <a:solidFill>
                <a:srgbClr val="333333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7557"/>
          <a:stretch>
            <a:fillRect/>
          </a:stretch>
        </p:blipFill>
        <p:spPr>
          <a:xfrm>
            <a:off x="581660" y="4039870"/>
            <a:ext cx="4914265" cy="2470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870" y="4039870"/>
            <a:ext cx="6002655" cy="2470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6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任务二：矩阵乘法 (Matrix Multiplication)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6D8C"/>
                </a:solidFill>
              </a:rPr>
              <a:t>核心功能</a:t>
            </a:r>
            <a:endParaRPr sz="2600" b="1">
              <a:solidFill>
                <a:srgbClr val="166D8C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实现任意维度矩阵乘法 C[MxO] = A[MxN] × B[NxO]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Demo: A[2x3] × B[3x2] = C[2x2]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66D8C"/>
                </a:solidFill>
              </a:rPr>
              <a:t>关键技术点</a:t>
            </a:r>
            <a:endParaRPr sz="2200" b="1">
              <a:solidFill>
                <a:srgbClr val="166D8C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1. 三层循环：r(行) × c(列) × k(内积) 经典矩阵乘法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2. 定点数：所有元素 ×100 存储，避免 8087 协处理器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3. 整数 MUL/DIV：乘积 /100 后累加，保证精度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4. 通用显示：定点数换行打印，支持符号和两位小数</a:t>
            </a:r>
            <a:endParaRPr sz="1800" b="0">
              <a:solidFill>
                <a:srgbClr val="333333"/>
              </a:solidFill>
            </a:endParaRPr>
          </a:p>
        </p:txBody>
      </p:sp>
      <p:pic>
        <p:nvPicPr>
          <p:cNvPr id="5" name="Picture 4" descr="矩阵乘法原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5760720" cy="2377440"/>
          </a:xfrm>
          <a:prstGeom prst="rect">
            <a:avLst/>
          </a:prstGeom>
        </p:spPr>
      </p:pic>
      <p:pic>
        <p:nvPicPr>
          <p:cNvPr id="6" name="Picture 5" descr="输出结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749040"/>
            <a:ext cx="5746750" cy="3549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总结与收获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974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560"/>
                </a:solidFill>
              </a:rPr>
              <a:t>成绩判定器</a:t>
            </a:r>
            <a:endParaRPr sz="2400" b="1">
              <a:solidFill>
                <a:srgbClr val="E94560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DOS中断 INT 21h 实现输入输出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缓冲输入 (AH=0Ah) 读取字符串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逐字符解析实现 DFA 状态机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分支跳转 (cmp/jae/je) 判断等级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循环控制实现多次输入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66D8C"/>
                </a:solidFill>
              </a:rPr>
              <a:t>汇编核心能力</a:t>
            </a:r>
            <a:endParaRPr sz="2200" b="1">
              <a:solidFill>
                <a:srgbClr val="166D8C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寄存器操作与寻址方式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MUL/DIV 定点整数运算代替浮点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</a:t>
            </a:r>
            <a:r>
              <a:rPr lang="en-US" sz="1800" b="0">
                <a:solidFill>
                  <a:srgbClr val="333333"/>
                </a:solidFill>
              </a:rPr>
              <a:t> </a:t>
            </a:r>
            <a:r>
              <a:rPr sz="1800" b="0">
                <a:solidFill>
                  <a:srgbClr val="333333"/>
                </a:solidFill>
              </a:rPr>
              <a:t>字符串格式化显示</a:t>
            </a:r>
            <a:endParaRPr sz="1800" b="0">
              <a:solidFill>
                <a:srgbClr val="33333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6D8C"/>
                </a:solidFill>
              </a:rPr>
              <a:t>矩阵乘法</a:t>
            </a:r>
            <a:endParaRPr sz="2400" b="1">
              <a:solidFill>
                <a:srgbClr val="166D8C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三层嵌套循环实现矩阵乘法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一维数组模拟二维矩阵(行优先)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index = (r*cols + c) * sizeof(word)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定点数 100 倍缩放，MUL+DIV 还原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通用矩阵显示子程序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94560"/>
                </a:solidFill>
              </a:rPr>
              <a:t>emu8086 工具链</a:t>
            </a:r>
            <a:endParaRPr sz="2200" b="1">
              <a:solidFill>
                <a:srgbClr val="E94560"/>
              </a:solidFill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emu8086 模拟器 + 内置调试器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寄存器/内存窗口观察运行状态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单步执行验证循环与分支逻辑</a:t>
            </a:r>
            <a:endParaRPr sz="1800" b="0">
              <a:solidFill>
                <a:srgbClr val="333333"/>
              </a:solidFill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.com / .exe 两种输出格式</a:t>
            </a:r>
            <a:endParaRPr sz="18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WPS 演示</Application>
  <PresentationFormat>On-screen Show (4:3)</PresentationFormat>
  <Paragraphs>71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御猫Goneko</cp:lastModifiedBy>
  <cp:revision>4</cp:revision>
  <dcterms:created xsi:type="dcterms:W3CDTF">2013-01-27T09:14:00Z</dcterms:created>
  <dcterms:modified xsi:type="dcterms:W3CDTF">2026-05-27T15:09:34Z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4732966378A04C9DABD61161865326C3_12</vt:lpwstr>
  </property>
  <property fmtid="{D5CDD505-2E9C-101B-9397-08002B2CF9AE}" pid="3" name="KSOProductBuildVer">
    <vt:lpwstr>2052-12.1.0.23542</vt:lpwstr>
  </property>
</Properties>
</file>