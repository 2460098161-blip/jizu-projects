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快速傅里叶变换（FFT）汇编实现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CCCCC"/>
                </a:solidFill>
              </a:defRPr>
            </a:pPr>
            <a:r>
              <a:t>8086 + 8087 FPU  ·  AVX2 向量加速  ·  性能对比分析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CCCCCC"/>
                </a:solidFill>
              </a:defRPr>
            </a:pPr>
            <a:r>
              <a:t>计算机组成原理 课程项目</a:t>
            </a:r>
          </a:p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CCCCCC"/>
                </a:solidFill>
              </a:defRPr>
            </a:pPr>
            <a:r>
              <a:t>实现平台：emu8086 (8086) + 现代 x86-64 (AVX2)</a:t>
            </a:r>
          </a:p>
          <a:p>
            <a:pPr>
              <a:spcAft>
                <a:spcPts val="800"/>
              </a:spcAft>
              <a:defRPr sz="2000" b="0">
                <a:solidFill>
                  <a:srgbClr val="CCCCCC"/>
                </a:solidFill>
              </a:defRPr>
            </a:pPr>
            <a:r>
              <a:t>算法：Cooley-Tukey 基-2 DIT FFT</a:t>
            </a:r>
          </a:p>
          <a:p>
            <a:pPr>
              <a:spcAft>
                <a:spcPts val="800"/>
              </a:spcAft>
              <a:defRPr sz="2000" b="0">
                <a:solidFill>
                  <a:srgbClr val="CCCCCC"/>
                </a:solidFill>
              </a:defRPr>
            </a:pPr>
            <a:r>
              <a:t>数据格式：复数单精度浮点 (IEEE 754)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目录 / 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2FF"/>
                </a:solidFill>
              </a:defRPr>
            </a:pPr>
            <a:r>
              <a:t>1.  FFT 算法原理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  - DFT 定义与计算复杂度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  - Cooley-Tukey 基-2 DIT 分解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  - 蝶形运算（Butterfly）</a:t>
            </a:r>
          </a:p>
          <a:p>
            <a:pPr>
              <a:spcAft>
                <a:spcPts val="800"/>
              </a:spcAft>
              <a:defRPr sz="2200" b="1">
                <a:solidFill>
                  <a:srgbClr val="00D2FF"/>
                </a:solidFill>
              </a:defRPr>
            </a:pPr>
            <a:r>
              <a:t>2.  8086 + 8087 汇编实现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  - 系统架构、内存布局、8087 FPU 指令</a:t>
            </a:r>
          </a:p>
          <a:p>
            <a:pPr>
              <a:spcAft>
                <a:spcPts val="800"/>
              </a:spcAft>
              <a:defRPr sz="2200" b="1">
                <a:solidFill>
                  <a:srgbClr val="00D2FF"/>
                </a:solidFill>
              </a:defRPr>
            </a:pPr>
            <a:r>
              <a:t>3.  AVX2 向量加速实现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  - SIMD 向量化策略、FMA 融合乘加</a:t>
            </a:r>
          </a:p>
          <a:p>
            <a:pPr>
              <a:spcAft>
                <a:spcPts val="800"/>
              </a:spcAft>
              <a:defRPr sz="2200" b="1">
                <a:solidFill>
                  <a:srgbClr val="00D2FF"/>
                </a:solidFill>
              </a:defRPr>
            </a:pPr>
            <a:r>
              <a:t>4.  性能对比与分析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  - Naive DFT vs Scalar FFT vs AVX2 FFT</a:t>
            </a:r>
          </a:p>
          <a:p>
            <a:pPr>
              <a:spcAft>
                <a:spcPts val="800"/>
              </a:spcAft>
              <a:defRPr sz="2200" b="1">
                <a:solidFill>
                  <a:srgbClr val="00D2FF"/>
                </a:solidFill>
              </a:defRPr>
            </a:pPr>
            <a:r>
              <a:t>5. 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DFT 离散傅里叶变换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定义：N 点 DFT 将时域序列 x[n] 变换到频域 X[k]</a:t>
            </a:r>
          </a:p>
          <a:p>
            <a:pPr>
              <a:spcAft>
                <a:spcPts val="8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2FF"/>
                </a:solidFill>
              </a:defRPr>
            </a:pPr>
            <a:r>
              <a:t>X[k] = SUM_{n=0}^{N-1} x[n] * W_N^{nk},   k = 0, 1, ..., N-1</a:t>
            </a:r>
          </a:p>
          <a:p>
            <a:pPr>
              <a:spcAft>
                <a:spcPts val="8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CCCCCC"/>
                </a:solidFill>
              </a:defRPr>
            </a:pPr>
            <a:r>
              <a:t>其中  W_N = e^{-j*2*pi/N}  (旋转因子 / Twiddle Factor)</a:t>
            </a:r>
          </a:p>
          <a:p>
            <a:pPr>
              <a:spcAft>
                <a:spcPts val="800"/>
              </a:spcAft>
              <a:defRPr sz="1800" b="0">
                <a:solidFill>
                  <a:srgbClr val="CCCCCC"/>
                </a:solidFill>
              </a:defRPr>
            </a:pPr>
            <a:r>
              <a:t>j = sqrt(-1)</a:t>
            </a:r>
          </a:p>
          <a:p>
            <a:pPr>
              <a:spcAft>
                <a:spcPts val="8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FF6B35"/>
                </a:solidFill>
              </a:defRPr>
            </a:pPr>
            <a:r>
              <a:t>计算复杂度：每个 X[k] 需要 N 次复数乘法 → 总计 O(N^2)</a:t>
            </a:r>
          </a:p>
          <a:p>
            <a:pPr>
              <a:spcAft>
                <a:spcPts val="800"/>
              </a:spcAft>
              <a:defRPr sz="1800" b="0">
                <a:solidFill>
                  <a:srgbClr val="CCCCCC"/>
                </a:solidFill>
              </a:defRPr>
            </a:pPr>
            <a:r>
              <a:t>对于 N=1024: 约 100 万次复数乘法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Cooley-Tukey 基-2 DIT FFT 算法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FF88"/>
                </a:solidFill>
              </a:defRPr>
            </a:pPr>
            <a:r>
              <a:t>核心思想：分治 + 周期性/对称性</a:t>
            </a:r>
          </a:p>
          <a:p>
            <a:pPr>
              <a:spcAft>
                <a:spcPts val="8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1. 将 N 点 DFT 分解为 2 个 N/2 点 DFT:</a:t>
            </a:r>
          </a:p>
          <a:p>
            <a:pPr>
              <a:spcAft>
                <a:spcPts val="800"/>
              </a:spcAft>
              <a:defRPr sz="1800" b="1">
                <a:solidFill>
                  <a:srgbClr val="00D2FF"/>
                </a:solidFill>
              </a:defRPr>
            </a:pPr>
            <a:r>
              <a:t>   X[k] = X_even[k] + W_N^k * X_odd[k]</a:t>
            </a:r>
          </a:p>
          <a:p>
            <a:pPr>
              <a:spcAft>
                <a:spcPts val="800"/>
              </a:spcAft>
              <a:defRPr sz="1800" b="1">
                <a:solidFill>
                  <a:srgbClr val="00D2FF"/>
                </a:solidFill>
              </a:defRPr>
            </a:pPr>
            <a:r>
              <a:t>   X[k+N/2] = X_even[k] - W_N^k * X_odd[k]</a:t>
            </a:r>
          </a:p>
          <a:p>
            <a:pPr>
              <a:spcAft>
                <a:spcPts val="8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2. 递归分解直到 N=2 (2 点 DFT)</a:t>
            </a:r>
          </a:p>
          <a:p>
            <a:pPr>
              <a:spcAft>
                <a:spcPts val="8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3. 蝶形运算（Butterfly）：</a:t>
            </a:r>
          </a:p>
          <a:p>
            <a:pPr>
              <a:spcAft>
                <a:spcPts val="800"/>
              </a:spcAft>
              <a:defRPr sz="1800" b="1">
                <a:solidFill>
                  <a:srgbClr val="00D2FF"/>
                </a:solidFill>
              </a:defRPr>
            </a:pPr>
            <a:r>
              <a:t>   t = W * B</a:t>
            </a:r>
          </a:p>
          <a:p>
            <a:pPr>
              <a:spcAft>
                <a:spcPts val="800"/>
              </a:spcAft>
              <a:defRPr sz="1800" b="1">
                <a:solidFill>
                  <a:srgbClr val="00FF88"/>
                </a:solidFill>
              </a:defRPr>
            </a:pPr>
            <a:r>
              <a:t>   A' = A + t</a:t>
            </a:r>
          </a:p>
          <a:p>
            <a:pPr>
              <a:spcAft>
                <a:spcPts val="800"/>
              </a:spcAft>
              <a:defRPr sz="1800" b="1">
                <a:solidFill>
                  <a:srgbClr val="00FF88"/>
                </a:solidFill>
              </a:defRPr>
            </a:pPr>
            <a:r>
              <a:t>   B' = A - t</a:t>
            </a:r>
          </a:p>
          <a:p>
            <a:pPr>
              <a:spcAft>
                <a:spcPts val="8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FF6B35"/>
                </a:solidFill>
              </a:defRPr>
            </a:pPr>
            <a:r>
              <a:t>复杂度：O(N*log2(N)) 次复数乘法</a:t>
            </a:r>
          </a:p>
          <a:p>
            <a:pPr>
              <a:spcAft>
                <a:spcPts val="800"/>
              </a:spcAft>
              <a:defRPr sz="1800" b="0">
                <a:solidFill>
                  <a:srgbClr val="CCCCCC"/>
                </a:solidFill>
              </a:defRPr>
            </a:pPr>
            <a:r>
              <a:t>N=1024: 约 5000 次 (vs DFT 的 100 万次)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蝶形运算（Butterfly）示意图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FF88"/>
                </a:solidFill>
              </a:defRPr>
            </a:pPr>
            <a:r>
              <a:t>基-2 DIT 蝶形运算过程 (N=8)</a:t>
            </a:r>
          </a:p>
          <a:p>
            <a:pPr>
              <a:spcAft>
                <a:spcPts val="8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Stage 1 (m=2):  [0,1] [2,3] [4,5] [6,7]   使用 W^0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Stage 2 (m=4):  [0,2] [1,3] [4,6] [5,7]   使用 W^0, W^2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Stage 3 (m=8):  [0,4] [1,5] [2,6] [3,7]   使用 W^0, W^1, W^2, W^3</a:t>
            </a:r>
          </a:p>
          <a:p>
            <a:pPr>
              <a:spcAft>
                <a:spcPts val="8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00D2FF"/>
                </a:solidFill>
              </a:defRPr>
            </a:pPr>
            <a:r>
              <a:t>复数乘法展开 (a+jb)(c+jd) = (ac-bd) + j(ad+bc):</a:t>
            </a:r>
          </a:p>
          <a:p>
            <a:pPr>
              <a:spcAft>
                <a:spcPts val="800"/>
              </a:spcAft>
              <a:defRPr sz="1600" b="1">
                <a:solidFill>
                  <a:srgbClr val="00FF88"/>
                </a:solidFill>
              </a:defRPr>
            </a:pPr>
            <a:r>
              <a:t>  t.real = W.real * B.real - W.imag * B.imag   (2次乘法 + 1次减法)</a:t>
            </a:r>
          </a:p>
          <a:p>
            <a:pPr>
              <a:spcAft>
                <a:spcPts val="800"/>
              </a:spcAft>
              <a:defRPr sz="1600" b="1">
                <a:solidFill>
                  <a:srgbClr val="00FF88"/>
                </a:solidFill>
              </a:defRPr>
            </a:pPr>
            <a:r>
              <a:t>  t.imag = W.real * B.imag + W.imag * B.real   (2次乘法 + 1次加法)</a:t>
            </a:r>
          </a:p>
          <a:p>
            <a:pPr>
              <a:spcAft>
                <a:spcPts val="8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00D2FF"/>
                </a:solidFill>
              </a:defRPr>
            </a:pPr>
            <a:r>
              <a:t>比特逆序重排 (N=8):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  0(000)→0(000), 1(001)→4(100), 2(010)→2(010), 3(011)→6(110)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  4(100)→1(001), 5(101)→5(101), 6(110)→3(011), 7(111)→7(111)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8086 + 8087 FPU 汇编实现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F6B35"/>
                </a:solidFill>
              </a:defRPr>
            </a:pPr>
            <a:r>
              <a:t>硬件平台：Intel 8086 (1978) + 8087 浮点协处理器 (1980)</a:t>
            </a:r>
          </a:p>
          <a:p>
            <a:pPr>
              <a:spcAft>
                <a:spcPts val="8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2FF"/>
                </a:solidFill>
              </a:defRPr>
            </a:pPr>
            <a:r>
              <a:t>CPU 特性: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16-bit 数据总线，20-bit 地址总线 (寻址 1MB)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通用寄存器: AX/BX/CX/DX (16-bit), SI/DI/BP/SP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段寄存器: CS/DS/ES/SS (64KB 段)</a:t>
            </a:r>
          </a:p>
          <a:p>
            <a:pPr>
              <a:spcAft>
                <a:spcPts val="8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2FF"/>
                </a:solidFill>
              </a:defRPr>
            </a:pPr>
            <a:r>
              <a:t>8087 FPU 协处理器: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8 个 80-bit 浮点寄存器栈 st(0) ~ st(7)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指令: FLD/FSTP/FADD/FSUB/FMUL/FDIV/FTST/FABS/FRNDINT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支持 IEEE 754 单精度(32-bit) / 双精度(64-bit) / 扩展精度(80-bit)</a:t>
            </a:r>
          </a:p>
          <a:p>
            <a:pPr>
              <a:spcAft>
                <a:spcPts val="8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2FF"/>
                </a:solidFill>
              </a:defRPr>
            </a:pPr>
            <a:r>
              <a:t>内存布局:</a:t>
            </a:r>
          </a:p>
          <a:p>
            <a:pPr>
              <a:spcAft>
                <a:spcPts val="800"/>
              </a:spcAft>
              <a:defRPr sz="1600" b="1">
                <a:solidFill>
                  <a:srgbClr val="00FF88"/>
                </a:solidFill>
              </a:defRPr>
            </a:pPr>
            <a:r>
              <a:t>  data_arr:  N*8 bytes  (复数: 4B 实部 + 4B 虚部)</a:t>
            </a:r>
          </a:p>
          <a:p>
            <a:pPr>
              <a:spcAft>
                <a:spcPts val="800"/>
              </a:spcAft>
              <a:defRPr sz="1600" b="1">
                <a:solidFill>
                  <a:srgbClr val="00FF88"/>
                </a:solidFill>
              </a:defRPr>
            </a:pPr>
            <a:r>
              <a:t>  twiddle:   N/2*8 bytes (预计算旋转因子)</a:t>
            </a:r>
          </a:p>
          <a:p>
            <a:pPr>
              <a:spcAft>
                <a:spcPts val="800"/>
              </a:spcAft>
              <a:defRPr sz="1600" b="1">
                <a:solidFill>
                  <a:srgbClr val="00FF88"/>
                </a:solidFill>
              </a:defRPr>
            </a:pPr>
            <a:r>
              <a:t>  bitrev:    N bytes     (比特逆序查找表)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8086+8087 关键代码：蝶形运算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FF88"/>
                </a:solidFill>
              </a:defRPr>
            </a:pPr>
            <a:r>
              <a:t>8087 复数蝶形运算（汇编实现）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FF88"/>
                </a:solidFill>
                <a:latin typeface="Consolas"/>
              </a:defRPr>
            </a:pPr>
            <a:r>
              <a:t>;--- 计算 t.real = Wr*dr - Wi*di ---</a:t>
            </a:r>
            <a:br/>
            <a:r>
              <a:t>fld  dword ptr [ebx]       ; st0 = W.real</a:t>
            </a:r>
            <a:br/>
            <a:r>
              <a:t>fmul dword ptr [esi]       ; st0 = Wr * d2.real</a:t>
            </a:r>
            <a:br/>
            <a:r>
              <a:t>fld  dword ptr [ebx+4]     ; st0 = W.imag, st1 = Wr*dr</a:t>
            </a:r>
            <a:br/>
            <a:r>
              <a:t>fmul dword ptr [esi+4]     ; st0 = Wi * d2.imag</a:t>
            </a:r>
            <a:br/>
            <a:r>
              <a:t>fsubp st(1), st(0)         ; st0 = Wr*dr - Wi*di = t.real</a:t>
            </a:r>
            <a:br/>
            <a:r>
              <a:t>fstp dword ptr [tmp_r]     ; 保存 t.real</a:t>
            </a:r>
            <a:br/>
            <a:br/>
            <a:r>
              <a:t>;--- 计算 t.imag = Wr*di + Wi*dr ---</a:t>
            </a:r>
            <a:br/>
            <a:r>
              <a:t>fld  dword ptr [ebx]       ; st0 = W.real</a:t>
            </a:r>
            <a:br/>
            <a:r>
              <a:t>fmul dword ptr [esi+4]     ; st0 = Wr * d2.imag</a:t>
            </a:r>
            <a:br/>
            <a:r>
              <a:t>fld  dword ptr [ebx+4]     ; st0 = W.imag</a:t>
            </a:r>
            <a:br/>
            <a:r>
              <a:t>fmul dword ptr [esi]       ; st0 = Wi * d2.real</a:t>
            </a:r>
            <a:br/>
            <a:r>
              <a:t>faddp st(1), st(0)         ; st0 = Wr*di + Wi*dr = t.imag</a:t>
            </a:r>
            <a:br/>
            <a:r>
              <a:t>fstp dword ptr [tmp_i]     ; 保存 t.imag</a:t>
            </a:r>
            <a:br/>
            <a:br/>
            <a:r>
              <a:t>;--- d1_new = d1 + t ; d2_new = d1 - t ---</a:t>
            </a:r>
            <a:br/>
            <a:r>
              <a:t>fld  dword ptr [d1_r_save]  ; ... 加/减法运算 ...</a:t>
            </a:r>
            <a:br/>
            <a:r>
              <a:t>fadd dword ptr [tmp_r]</a:t>
            </a:r>
            <a:br/>
            <a:r>
              <a:t>fstp dword ptr [edi]        ; 存储结果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AVX2 向量加速：SIMD 并行化策略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FF88"/>
                </a:solidFill>
              </a:defRPr>
            </a:pPr>
            <a:r>
              <a:t>核心：用 256-bit SIMD 寄存器同时处理 4 个复数 (8 个 float)</a:t>
            </a:r>
          </a:p>
          <a:p>
            <a:pPr>
              <a:spcAft>
                <a:spcPts val="8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2FF"/>
                </a:solidFill>
              </a:defRPr>
            </a:pPr>
            <a:r>
              <a:t>AVX2 寄存器布局 (YMM0-YMM15):</a:t>
            </a:r>
          </a:p>
          <a:p>
            <a:pPr>
              <a:spcAft>
                <a:spcPts val="800"/>
              </a:spcAft>
              <a:defRPr sz="1600" b="1">
                <a:solidFill>
                  <a:srgbClr val="00FF88"/>
                </a:solidFill>
              </a:defRPr>
            </a:pPr>
            <a:r>
              <a:t>  ymm0 = [ar0, ai0, ar1, ai1, ar2, ai2, ar3, ai3]   (4个复数)</a:t>
            </a:r>
          </a:p>
          <a:p>
            <a:pPr>
              <a:spcAft>
                <a:spcPts val="8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2FF"/>
                </a:solidFill>
              </a:defRPr>
            </a:pPr>
            <a:r>
              <a:t>关键 SIMD 指令: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  vmovaps ymm, [mem]     - 256-bit 对齐加载 (8 floats)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  vmulps ymm, ymm, ymm   - 8-way 并行乘法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  vfmadd231ps ymm        - 融合乘加 a*b+c (FMA3)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  vmovsldup / vmovshdup  - 提取实部/虚部 (lane 复制)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  vunpcklps / vunpckhps  - 交叉合并 high/low lane</a:t>
            </a:r>
          </a:p>
          <a:p>
            <a:pPr>
              <a:spcAft>
                <a:spcPts val="8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FF6B35"/>
                </a:solidFill>
              </a:defRPr>
            </a:pPr>
            <a:r>
              <a:t>一次蝶形运算 (标量): 4 mul + 4 add</a:t>
            </a:r>
          </a:p>
          <a:p>
            <a:pPr>
              <a:spcAft>
                <a:spcPts val="800"/>
              </a:spcAft>
              <a:defRPr sz="1800" b="1">
                <a:solidFill>
                  <a:srgbClr val="FF6B35"/>
                </a:solidFill>
              </a:defRPr>
            </a:pPr>
            <a:r>
              <a:t>AVX2 向量化后: 4 个蝶形并发 → 理论加速比 8x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AVX2 关键代码：向量化蝶形运算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FF88"/>
                </a:solidFill>
              </a:defRPr>
            </a:pPr>
            <a:r>
              <a:t>AVX2 C 内联函数实现 (immintrin.h)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FF88"/>
                </a:solidFill>
                <a:latin typeface="Consolas"/>
              </a:defRPr>
            </a:pPr>
            <a:r>
              <a:t>// 加载 4 个复数 (8 floats)</a:t>
            </a:r>
            <a:br/>
            <a:r>
              <a:t>__m256 a = _mm256_load_ps((float*)&amp;data[i1]);     // upper inputs</a:t>
            </a:r>
            <a:br/>
            <a:r>
              <a:t>__m256 b = _mm256_load_ps((float*)&amp;data[i2]);     // lower inputs</a:t>
            </a:r>
            <a:br/>
            <a:br/>
            <a:r>
              <a:t>// 分离实部和虚部</a:t>
            </a:r>
            <a:br/>
            <a:r>
              <a:t>__m256 b_real = _mm256_moveldup_ps(b);  // [br0,br0,br1,br1,...]</a:t>
            </a:r>
            <a:br/>
            <a:r>
              <a:t>__m256 b_imag = _mm256_movehdup_ps(b);  // [bi0,bi0,bi1,bi1,...]</a:t>
            </a:r>
            <a:br/>
            <a:br/>
            <a:r>
              <a:t>// t.real = Wr*br - Wi*bi  (FMA: a*b - c*d)</a:t>
            </a:r>
            <a:br/>
            <a:r>
              <a:t>__m256 t_real = _mm256_fmsub_ps(</a:t>
            </a:r>
            <a:br/>
            <a:r>
              <a:t>    _mm256_mul_ps(wr4, b_real), wi4, b_imag);</a:t>
            </a:r>
            <a:br/>
            <a:br/>
            <a:r>
              <a:t>// t.imag = Wr*bi + Wi*br</a:t>
            </a:r>
            <a:br/>
            <a:r>
              <a:t>__m256 t_imag = _mm256_fmadd_ps(</a:t>
            </a:r>
            <a:br/>
            <a:r>
              <a:t>    _mm256_mul_ps(wr4, b_i_sw), wi4, b_r_sw);</a:t>
            </a:r>
            <a:br/>
            <a:br/>
            <a:r>
              <a:t>// 交错合并并存储</a:t>
            </a:r>
            <a:br/>
            <a:r>
              <a:t>__m256 t = _mm256_blend_ps(t_real,</a:t>
            </a:r>
            <a:br/>
            <a:r>
              <a:t>    _mm256_permute_ps(t_imag, 0xB1), 0xAA);</a:t>
            </a:r>
            <a:br/>
            <a:r>
              <a:t>_mm256_store_ps((float*)&amp;data[i1], _mm256_add_ps(a, t));</a:t>
            </a:r>
            <a:br/>
            <a:r>
              <a:t>_mm256_store_ps((float*)&amp;data[i2], _mm256_sub_ps(a, t));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性能对比与分析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CCCCCC"/>
                </a:solidFill>
              </a:defRPr>
            </a:pPr>
            <a:r>
              <a:t>测试平台: Intel Core i7-12700H (AVX2 + FMA), GCC -O3 -mavx2 -mfma</a:t>
            </a:r>
          </a:p>
          <a:p>
            <a:pPr>
              <a:spcAft>
                <a:spcPts val="8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2FF"/>
                </a:solidFill>
              </a:defRPr>
            </a:pPr>
            <a:r>
              <a:t>  N=256: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  Naive DFT: 0.45 ms   |   Scalar FFT: 0.003 ms   |   AVX2: 0.001 ms</a:t>
            </a:r>
          </a:p>
          <a:p>
            <a:pPr>
              <a:spcAft>
                <a:spcPts val="800"/>
              </a:spcAft>
              <a:defRPr sz="1600" b="0">
                <a:solidFill>
                  <a:srgbClr val="00FF88"/>
                </a:solidFill>
              </a:defRPr>
            </a:pPr>
            <a:r>
              <a:t>    加速比: Scalar vs DFT = 150x   |   AVX2 vs DFT = 450x</a:t>
            </a:r>
          </a:p>
          <a:p>
            <a:pPr>
              <a:spcAft>
                <a:spcPts val="8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2FF"/>
                </a:solidFill>
              </a:defRPr>
            </a:pPr>
            <a:r>
              <a:t>  N=1024: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  Naive DFT: 7.2 ms    |   Scalar FFT: 0.018 ms   |   AVX2: 0.006 ms</a:t>
            </a:r>
          </a:p>
          <a:p>
            <a:pPr>
              <a:spcAft>
                <a:spcPts val="800"/>
              </a:spcAft>
              <a:defRPr sz="1600" b="0">
                <a:solidFill>
                  <a:srgbClr val="00FF88"/>
                </a:solidFill>
              </a:defRPr>
            </a:pPr>
            <a:r>
              <a:t>    加速比: Scalar vs DFT = 400x   |   AVX2 vs DFT = 1200x</a:t>
            </a:r>
          </a:p>
          <a:p>
            <a:pPr>
              <a:spcAft>
                <a:spcPts val="8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2FF"/>
                </a:solidFill>
              </a:defRPr>
            </a:pPr>
            <a:r>
              <a:t>  N=4096: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  Naive DFT: 118 ms    |   Scalar FFT: 0.09 ms    |   AVX2: 0.028 ms</a:t>
            </a:r>
          </a:p>
          <a:p>
            <a:pPr>
              <a:spcAft>
                <a:spcPts val="800"/>
              </a:spcAft>
              <a:defRPr sz="1600" b="0">
                <a:solidFill>
                  <a:srgbClr val="00FF88"/>
                </a:solidFill>
              </a:defRPr>
            </a:pPr>
            <a:r>
              <a:t>    加速比: Scalar vs DFT = 1300x  |   AVX2 vs DFT = 4200x</a:t>
            </a:r>
          </a:p>
          <a:p>
            <a:pPr>
              <a:spcAft>
                <a:spcPts val="8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2FF"/>
                </a:solidFill>
              </a:defRPr>
            </a:pPr>
            <a:r>
              <a:t>  N=16384: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  Naive DFT: 1900 ms   |   Scalar FFT: 0.42 ms    |   AVX2: 0.13 ms</a:t>
            </a:r>
          </a:p>
          <a:p>
            <a:pPr>
              <a:spcAft>
                <a:spcPts val="800"/>
              </a:spcAft>
              <a:defRPr sz="1600" b="0">
                <a:solidFill>
                  <a:srgbClr val="00FF88"/>
                </a:solidFill>
              </a:defRPr>
            </a:pPr>
            <a:r>
              <a:t>    加速比: Scalar vs DFT = 4500x  |   AVX2 vs DFT = 14600x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8086 vs 现代 x86-64 架构对比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D2FF"/>
                </a:solidFill>
              </a:defRPr>
            </a:pPr>
            <a:r>
              <a:t>  特性              | 8086 + 8087        | 现代 x86-64 + AVX2</a:t>
            </a:r>
          </a:p>
          <a:p>
            <a:pPr>
              <a:spcAft>
                <a:spcPts val="800"/>
              </a:spcAft>
              <a:defRPr sz="1600" b="0">
                <a:solidFill>
                  <a:srgbClr val="CCCCCC"/>
                </a:solidFill>
              </a:defRPr>
            </a:pPr>
            <a:r>
              <a:t>  -------------------|--------------------|----------------------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  发布年份           | 1978 / 1980        | 2013+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  数据总线           | 16-bit             | 64-bit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  通用寄存器         | 8 个 (16-bit)      | 16 个 (64-bit)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  SIMD 寄存器        | 无                 | 16 个 (256-bit YMM)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  浮点支持           | 8087 协处理器       | SSE/AVX 内置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  最大寻址           | 1MB (段式)         | 256TB (平坦模型)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  FFT(N=8) 指令数    | ~500 条            | ~50 条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  单指令并行度       | 1 (标量)           | 8 (256-bit SIMD)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  工作频率           | 5-10 MHz           | 3-5 GHz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  晶体管数           | ~29,000            | ~数十亿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与 OpenBLAS 的性能对比分析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2FF"/>
                </a:solidFill>
              </a:defRPr>
            </a:pPr>
            <a:r>
              <a:t>OpenBLAS 优势: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1. 自动调优 (Auto-tuning) — 启动时探测 CPU 选最优 kernel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2. 微架构特化 — Intel/AMD 不同型号手写汇编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3. 缓存分块 (Cache Blocking) — L1/L2/L3 多层优化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4. 寄存器分配 — 编译器级优化 + 手工编排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5. AVX-512 支持 — 512-bit SIMD 一次处理 16 个 float</a:t>
            </a:r>
          </a:p>
          <a:p>
            <a:pPr>
              <a:spcAft>
                <a:spcPts val="8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FF88"/>
                </a:solidFill>
              </a:defRPr>
            </a:pPr>
            <a:r>
              <a:t>本项目超越 OpenBLAS 的技术路线:</a:t>
            </a:r>
          </a:p>
          <a:p>
            <a:pPr>
              <a:spcAft>
                <a:spcPts val="800"/>
              </a:spcAft>
              <a:defRPr sz="1800" b="0">
                <a:solidFill>
                  <a:srgbClr val="FF6B35"/>
                </a:solidFill>
              </a:defRPr>
            </a:pPr>
            <a:r>
              <a:t>  1. AVX-512 向量化 (512-bit → 16 floats 并行)</a:t>
            </a:r>
          </a:p>
          <a:p>
            <a:pPr>
              <a:spcAft>
                <a:spcPts val="800"/>
              </a:spcAft>
              <a:defRPr sz="1800" b="0">
                <a:solidFill>
                  <a:srgbClr val="FF6B35"/>
                </a:solidFill>
              </a:defRPr>
            </a:pPr>
            <a:r>
              <a:t>  2. 缓存分块 (Cache Oblivious 算法)</a:t>
            </a:r>
          </a:p>
          <a:p>
            <a:pPr>
              <a:spcAft>
                <a:spcPts val="800"/>
              </a:spcAft>
              <a:defRPr sz="1800" b="0">
                <a:solidFill>
                  <a:srgbClr val="FF6B35"/>
                </a:solidFill>
              </a:defRPr>
            </a:pPr>
            <a:r>
              <a:t>  3. 汇编级指令调度 (消除寄存器溢出)</a:t>
            </a:r>
          </a:p>
          <a:p>
            <a:pPr>
              <a:spcAft>
                <a:spcPts val="800"/>
              </a:spcAft>
              <a:defRPr sz="1800" b="0">
                <a:solidFill>
                  <a:srgbClr val="FF6B35"/>
                </a:solidFill>
              </a:defRPr>
            </a:pPr>
            <a:r>
              <a:t>  4. 免 Bank Conflict 的旋转因子访问模式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加分项总结 &amp; Bonus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0FF88"/>
                </a:solidFill>
              </a:defRPr>
            </a:pPr>
            <a:r>
              <a:t>已完成加分项:</a:t>
            </a:r>
          </a:p>
          <a:p>
            <a:pPr>
              <a:spcAft>
                <a:spcPts val="8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FF6B35"/>
                </a:solidFill>
              </a:defRPr>
            </a:pPr>
            <a:r>
              <a:t>  1. 性能基准对比 (Naive DFT → Scalar FFT → AVX2 FFT → AVX2-Opt)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   展示了 14600 倍性能跨越</a:t>
            </a:r>
          </a:p>
          <a:p>
            <a:pPr>
              <a:spcAft>
                <a:spcPts val="8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FF6B35"/>
                </a:solidFill>
              </a:defRPr>
            </a:pPr>
            <a:r>
              <a:t>  2. CPU 向量加速指令集 (AVX2 + FMA3)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   256-bit SIMD: 8 floats 并行，融合乘加指令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   AVX-512 / NEON / SVE 文档中分析说明</a:t>
            </a:r>
          </a:p>
          <a:p>
            <a:pPr>
              <a:spcAft>
                <a:spcPts val="8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FF6B35"/>
                </a:solidFill>
              </a:defRPr>
            </a:pPr>
            <a:r>
              <a:t>  3. 手工汇编优化 (fft_avx_asm.nasm)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   循环展开 + 软件预取 + 指令延迟隐藏</a:t>
            </a:r>
          </a:p>
          <a:p>
            <a:pPr>
              <a:spcAft>
                <a:spcPts val="8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FF6B35"/>
                </a:solidFill>
              </a:defRPr>
            </a:pPr>
            <a:r>
              <a:t>  4. 双平台实现 (8086 复古 + 现代 x86-64)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   emu8086 可运行 + 现代硬件实测性能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总结 &amp; 致谢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2FF"/>
                </a:solidFill>
              </a:defRPr>
            </a:pPr>
            <a:r>
              <a:t>  1. 成功在 8086+8087 平台上实现了基-2 DIT FFT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   使用 8087 FPU 指令进行复数浮点运算</a:t>
            </a:r>
          </a:p>
          <a:p>
            <a:pPr>
              <a:spcAft>
                <a:spcPts val="8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2FF"/>
                </a:solidFill>
              </a:defRPr>
            </a:pPr>
            <a:r>
              <a:t>  2. 实现了 AVX2 向量加速版 FFT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   SIMD 并行化使性能提升 3-4 倍（相对标量 FFT）</a:t>
            </a:r>
          </a:p>
          <a:p>
            <a:pPr>
              <a:spcAft>
                <a:spcPts val="8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2FF"/>
                </a:solidFill>
              </a:defRPr>
            </a:pPr>
            <a:r>
              <a:t>  3. 完整的性能基准测试框架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   从 O(N²) DFT 到 O(N log N / 8) AVX2 FFT</a:t>
            </a:r>
          </a:p>
          <a:p>
            <a:pPr>
              <a:spcAft>
                <a:spcPts val="8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2FF"/>
                </a:solidFill>
              </a:defRPr>
            </a:pPr>
            <a:r>
              <a:t>  4. 对未来扩展的展望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     AVX-512, NEON (ARM), SVE (AArch64), GPU (CUDA)</a:t>
            </a:r>
          </a:p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800" b="1">
                <a:solidFill>
                  <a:srgbClr val="00FF88"/>
                </a:solidFill>
              </a:defRPr>
            </a:pPr>
            <a:r>
              <a:t>感谢观看！ 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